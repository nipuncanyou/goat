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2e634731-b287-b223-601e-cc32b0e9a8a8}">
          <p14:sldIdLst>
            <p14:sldId id="256"/>
          </p14:sldIdLst>
        </p14:section>
        <p14:section name="Thesis &amp; Business" id="{28b27ef4-e919-0743-daf8-e2d546875083}">
          <p14:sldIdLst>
            <p14:sldId id="257"/>
            <p14:sldId id="258"/>
          </p14:sldIdLst>
        </p14:section>
        <p14:section name="Evidence" id="{81a530c2-9cee-9afb-ac1f-9f73a34f93c5}">
          <p14:sldIdLst>
            <p14:sldId id="259"/>
            <p14:sldId id="260"/>
            <p14:sldId id="261"/>
          </p14:sldIdLst>
        </p14:section>
        <p14:section name="Valuation &amp; Recommendation" id="{cdab696f-2c95-7da3-e520-8c54a8c5b773}">
          <p14:sldIdLst>
            <p14:sldId id="262"/>
            <p14:sldId id="263"/>
            <p14:sldId id="264"/>
          </p14:sldIdLst>
        </p14:section>
        <p14:section name="Close" id="{1bc47031-8837-d3de-d40a-19302d19cded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FY2026 segment results</c:v>
                </c:pt>
              </c:strCache>
            </c:strRef>
          </c:tx>
          <c:spPr>
            <a:solidFill>
              <a:srgbClr val="B320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B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320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C0C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C0C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8C0C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8C0C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FMCG — Cigarettes  (82.2%)</c:v>
                  </c:pt>
                  <c:pt idx="1">
                    <c:v>FMCG — Others  (6.7%)</c:v>
                  </c:pt>
                  <c:pt idx="2">
                    <c:v>Agri Business  (5.9%)</c:v>
                  </c:pt>
                  <c:pt idx="3">
                    <c:v>Paperboards, Paper &amp; Pkg  (2.8%)</c:v>
                  </c:pt>
                  <c:pt idx="4">
                    <c:v>Others  (2.5%)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22246</c:v>
                </c:pt>
                <c:pt idx="1">
                  <c:v>1812</c:v>
                </c:pt>
                <c:pt idx="2">
                  <c:v>1584</c:v>
                </c:pt>
                <c:pt idx="3">
                  <c:v>754</c:v>
                </c:pt>
                <c:pt idx="4">
                  <c:v>670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B24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5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FY2026 capex</c:v>
                </c:pt>
              </c:strCache>
            </c:strRef>
          </c:tx>
          <c:spPr>
            <a:solidFill>
              <a:srgbClr val="1429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B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294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3202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C0C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8C0C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8C0C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FMCG — Others</c:v>
                  </c:pt>
                  <c:pt idx="1">
                    <c:v>FMCG — Cigarettes</c:v>
                  </c:pt>
                  <c:pt idx="2">
                    <c:v>Paper &amp; Pkg</c:v>
                  </c:pt>
                  <c:pt idx="3">
                    <c:v>Agri</c:v>
                  </c:pt>
                  <c:pt idx="4">
                    <c:v>Others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970</c:v>
                </c:pt>
                <c:pt idx="1">
                  <c:v>884</c:v>
                </c:pt>
                <c:pt idx="2">
                  <c:v>407</c:v>
                </c:pt>
                <c:pt idx="3">
                  <c:v>122</c:v>
                </c:pt>
                <c:pt idx="4">
                  <c:v>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B24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4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segment assets</c:v>
                </c:pt>
              </c:strCache>
            </c:strRef>
          </c:tx>
          <c:spPr>
            <a:solidFill>
              <a:srgbClr val="B320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B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320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294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C0C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8C0C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8C0C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Cigarettes</c:v>
                  </c:pt>
                  <c:pt idx="1">
                    <c:v>FMCG — Others</c:v>
                  </c:pt>
                  <c:pt idx="2">
                    <c:v>Agri</c:v>
                  </c:pt>
                  <c:pt idx="3">
                    <c:v>Paper &amp; Pkg</c:v>
                  </c:pt>
                  <c:pt idx="4">
                    <c:v>Others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8246</c:v>
                </c:pt>
                <c:pt idx="1">
                  <c:v>10270</c:v>
                </c:pt>
                <c:pt idx="2">
                  <c:v>6008</c:v>
                </c:pt>
                <c:pt idx="3">
                  <c:v>8626</c:v>
                </c:pt>
                <c:pt idx="4">
                  <c:v>1766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B24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FY2026 segment results</c:v>
                </c:pt>
              </c:strCache>
            </c:strRef>
          </c:tx>
          <c:spPr>
            <a:solidFill>
              <a:srgbClr val="14294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B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Cigarettes</c:v>
                  </c:pt>
                  <c:pt idx="1">
                    <c:v>FMCG — Others</c:v>
                  </c:pt>
                  <c:pt idx="2">
                    <c:v>Agri</c:v>
                  </c:pt>
                  <c:pt idx="3">
                    <c:v>Paper &amp; Pkg</c:v>
                  </c:pt>
                  <c:pt idx="4">
                    <c:v>Others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82.2</c:v>
                </c:pt>
                <c:pt idx="1">
                  <c:v>6.7</c:v>
                </c:pt>
                <c:pt idx="2">
                  <c:v>5.9</c:v>
                </c:pt>
                <c:pt idx="3">
                  <c:v>2.8</c:v>
                </c:pt>
                <c:pt idx="4">
                  <c:v>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Share of net segment assets</c:v>
                </c:pt>
              </c:strCache>
            </c:strRef>
          </c:tx>
          <c:spPr>
            <a:solidFill>
              <a:srgbClr val="B8C0C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B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Cigarettes</c:v>
                  </c:pt>
                  <c:pt idx="1">
                    <c:v>FMCG — Others</c:v>
                  </c:pt>
                  <c:pt idx="2">
                    <c:v>Agri</c:v>
                  </c:pt>
                  <c:pt idx="3">
                    <c:v>Paper &amp; Pkg</c:v>
                  </c:pt>
                  <c:pt idx="4">
                    <c:v>Others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23.6</c:v>
                </c:pt>
                <c:pt idx="1">
                  <c:v>29.4</c:v>
                </c:pt>
                <c:pt idx="2">
                  <c:v>17.2</c:v>
                </c:pt>
                <c:pt idx="3">
                  <c:v>24.7</c:v>
                </c:pt>
                <c:pt idx="4">
                  <c:v>5.1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900" u="none">
                  <a:solidFill>
                    <a:srgbClr val="1B24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4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B24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4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rgbClr val="14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MOOLYANKAN 2026  |  ITC LIMITED  |  ROUND 2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image" Target="../media/image-6-1.png"/><Relationship Id="rId4" Type="http://schemas.openxmlformats.org/officeDocument/2006/relationships/image" Target="../media/image-6-2.png"/><Relationship Id="rId5" Type="http://schemas.openxmlformats.org/officeDocument/2006/relationships/image" Target="../media/image-6-3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0"/>
          <p:cNvSpPr/>
          <p:nvPr/>
        </p:nvSpPr>
        <p:spPr>
          <a:xfrm>
            <a:off x="6675120" y="594360"/>
            <a:ext cx="5669280" cy="566928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ring1"/>
          <p:cNvSpPr/>
          <p:nvPr/>
        </p:nvSpPr>
        <p:spPr>
          <a:xfrm>
            <a:off x="7406640" y="1325880"/>
            <a:ext cx="4206240" cy="420624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ring2"/>
          <p:cNvSpPr/>
          <p:nvPr/>
        </p:nvSpPr>
        <p:spPr>
          <a:xfrm>
            <a:off x="8138160" y="2057400"/>
            <a:ext cx="2743200" cy="27432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9006840" y="292608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dot_i" descr="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2872" y="3182112"/>
            <a:ext cx="493776" cy="493776"/>
          </a:xfrm>
          <a:prstGeom prst="rect">
            <a:avLst/>
          </a:prstGeom>
        </p:spPr>
      </p:pic>
      <p:sp>
        <p:nvSpPr>
          <p:cNvPr id="7" name="c_pill"/>
          <p:cNvSpPr txBox="1"/>
          <p:nvPr/>
        </p:nvSpPr>
        <p:spPr>
          <a:xfrm>
            <a:off x="822960" y="1234440"/>
            <a:ext cx="32918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MOOLYANKAN 2026  ·  ROUND 2</a:t>
            </a:r>
            <a:endParaRPr lang="en-US" sz="1200" dirty="0"/>
          </a:p>
        </p:txBody>
      </p:sp>
      <p:sp>
        <p:nvSpPr>
          <p:cNvPr id="8" name="c_title"/>
          <p:cNvSpPr txBox="1"/>
          <p:nvPr/>
        </p:nvSpPr>
        <p:spPr>
          <a:xfrm>
            <a:off x="822960" y="19202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ITC Limited</a:t>
            </a:r>
            <a:endParaRPr lang="en-US" sz="8000" dirty="0"/>
          </a:p>
        </p:txBody>
      </p:sp>
      <p:sp>
        <p:nvSpPr>
          <p:cNvPr id="9" name="c_sub"/>
          <p:cNvSpPr txBox="1"/>
          <p:nvPr/>
        </p:nvSpPr>
        <p:spPr>
          <a:xfrm>
            <a:off x="822960" y="3337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</a:rPr>
              <a:t>Equity Research</a:t>
            </a:r>
            <a:endParaRPr lang="en-US" sz="3000" dirty="0"/>
          </a:p>
        </p:txBody>
      </p:sp>
      <p:sp>
        <p:nvSpPr>
          <p:cNvPr id="10" name="c_team"/>
          <p:cNvSpPr txBox="1"/>
          <p:nvPr/>
        </p:nvSpPr>
        <p:spPr>
          <a:xfrm>
            <a:off x="822960" y="49377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[Team name]  ·  [Member names]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B8C0CC"/>
                </a:solidFill>
              </a:rPr>
              <a:t>Valuation date: to be finalised after the model is completed</a:t>
            </a:r>
            <a:endParaRPr lang="en-US" sz="16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9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9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01  ·  INVESTMENT THESIS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 differentiated investment case for ITC Limited</a:t>
            </a:r>
            <a:endParaRPr lang="en-US" sz="2800" dirty="0"/>
          </a:p>
        </p:txBody>
      </p:sp>
      <p:sp>
        <p:nvSpPr>
          <p:cNvPr id="4" name="fv_card"/>
          <p:cNvSpPr/>
          <p:nvPr/>
        </p:nvSpPr>
        <p:spPr>
          <a:xfrm>
            <a:off x="548640" y="1600200"/>
            <a:ext cx="4206240" cy="4160520"/>
          </a:xfrm>
          <a:prstGeom prst="roundRect">
            <a:avLst>
              <a:gd name="adj" fmla="val 2198"/>
            </a:avLst>
          </a:prstGeom>
          <a:solidFill>
            <a:schemeClr val="tx2"/>
          </a:solidFill>
          <a:ln/>
        </p:spPr>
      </p:sp>
      <p:sp>
        <p:nvSpPr>
          <p:cNvPr id="5" name="fv_lbl"/>
          <p:cNvSpPr txBox="1"/>
          <p:nvPr/>
        </p:nvSpPr>
        <p:spPr>
          <a:xfrm>
            <a:off x="82296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</a:rPr>
              <a:t>BASE-CASE FAIR VALUE PER SHARE</a:t>
            </a:r>
            <a:endParaRPr lang="en-US" sz="1200" dirty="0"/>
          </a:p>
        </p:txBody>
      </p:sp>
      <p:sp>
        <p:nvSpPr>
          <p:cNvPr id="6" name="fv_num"/>
          <p:cNvSpPr txBox="1"/>
          <p:nvPr/>
        </p:nvSpPr>
        <p:spPr>
          <a:xfrm>
            <a:off x="822960" y="214884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₹ ——</a:t>
            </a:r>
            <a:endParaRPr lang="en-US" sz="6600" dirty="0"/>
          </a:p>
        </p:txBody>
      </p:sp>
      <p:sp>
        <p:nvSpPr>
          <p:cNvPr id="7" name="fv_sub"/>
          <p:cNvSpPr txBox="1"/>
          <p:nvPr/>
        </p:nvSpPr>
        <p:spPr>
          <a:xfrm>
            <a:off x="82296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0CC"/>
                </a:solidFill>
              </a:rPr>
              <a:t>Pending valuation model</a:t>
            </a:r>
            <a:endParaRPr lang="en-US" sz="1300" dirty="0"/>
          </a:p>
        </p:txBody>
      </p:sp>
      <p:sp>
        <p:nvSpPr>
          <p:cNvPr id="8" name="rate0"/>
          <p:cNvSpPr txBox="1"/>
          <p:nvPr/>
        </p:nvSpPr>
        <p:spPr>
          <a:xfrm>
            <a:off x="822960" y="3794760"/>
            <a:ext cx="109728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BUY</a:t>
            </a:r>
            <a:endParaRPr lang="en-US" sz="1300" dirty="0"/>
          </a:p>
        </p:txBody>
      </p:sp>
      <p:sp>
        <p:nvSpPr>
          <p:cNvPr id="9" name="rate1"/>
          <p:cNvSpPr txBox="1"/>
          <p:nvPr/>
        </p:nvSpPr>
        <p:spPr>
          <a:xfrm>
            <a:off x="2057400" y="3794760"/>
            <a:ext cx="109728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HOLD</a:t>
            </a:r>
            <a:endParaRPr lang="en-US" sz="1300" dirty="0"/>
          </a:p>
        </p:txBody>
      </p:sp>
      <p:sp>
        <p:nvSpPr>
          <p:cNvPr id="10" name="rate2"/>
          <p:cNvSpPr txBox="1"/>
          <p:nvPr/>
        </p:nvSpPr>
        <p:spPr>
          <a:xfrm>
            <a:off x="3291840" y="3794760"/>
            <a:ext cx="109728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SELL</a:t>
            </a:r>
            <a:endParaRPr lang="en-US" sz="1300" dirty="0"/>
          </a:p>
        </p:txBody>
      </p:sp>
      <p:sp>
        <p:nvSpPr>
          <p:cNvPr id="11" name="mini1"/>
          <p:cNvSpPr txBox="1"/>
          <p:nvPr/>
        </p:nvSpPr>
        <p:spPr>
          <a:xfrm>
            <a:off x="822960" y="44348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0CC"/>
                </a:solidFill>
              </a:rPr>
              <a:t>Current market price</a:t>
            </a:r>
            <a:endParaRPr lang="en-US" sz="11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₹ —  as of valuation date</a:t>
            </a:r>
            <a:endParaRPr lang="en-US" sz="1100" dirty="0"/>
          </a:p>
        </p:txBody>
      </p:sp>
      <p:sp>
        <p:nvSpPr>
          <p:cNvPr id="12" name="mini2"/>
          <p:cNvSpPr txBox="1"/>
          <p:nvPr/>
        </p:nvSpPr>
        <p:spPr>
          <a:xfrm>
            <a:off x="822960" y="5029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0CC"/>
                </a:solidFill>
              </a:rPr>
              <a:t>Expected return over stated horizon</a:t>
            </a:r>
            <a:endParaRPr lang="en-US" sz="11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— %  over [horizon]</a:t>
            </a:r>
            <a:endParaRPr lang="en-US" sz="1100" dirty="0"/>
          </a:p>
        </p:txBody>
      </p:sp>
      <p:sp>
        <p:nvSpPr>
          <p:cNvPr id="13" name="rs_lbl"/>
          <p:cNvSpPr txBox="1"/>
          <p:nvPr/>
        </p:nvSpPr>
        <p:spPr>
          <a:xfrm>
            <a:off x="502920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THREE KEY REASONS</a:t>
            </a:r>
            <a:endParaRPr lang="en-US" sz="1200" dirty="0"/>
          </a:p>
        </p:txBody>
      </p:sp>
      <p:sp>
        <p:nvSpPr>
          <p:cNvPr id="14" name="rs_bg0"/>
          <p:cNvSpPr/>
          <p:nvPr/>
        </p:nvSpPr>
        <p:spPr>
          <a:xfrm>
            <a:off x="5029200" y="1920240"/>
            <a:ext cx="6611112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5" name="rs_n0"/>
          <p:cNvSpPr txBox="1"/>
          <p:nvPr/>
        </p:nvSpPr>
        <p:spPr>
          <a:xfrm>
            <a:off x="5193792" y="203911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6" name="rs_t0"/>
          <p:cNvSpPr txBox="1"/>
          <p:nvPr/>
        </p:nvSpPr>
        <p:spPr>
          <a:xfrm>
            <a:off x="5760720" y="19202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Reason 1 — to be drawn from the completed model and valuation</a:t>
            </a:r>
            <a:endParaRPr lang="en-US" sz="1400" dirty="0"/>
          </a:p>
        </p:txBody>
      </p:sp>
      <p:sp>
        <p:nvSpPr>
          <p:cNvPr id="17" name="rs_bg1"/>
          <p:cNvSpPr/>
          <p:nvPr/>
        </p:nvSpPr>
        <p:spPr>
          <a:xfrm>
            <a:off x="5029200" y="2670048"/>
            <a:ext cx="6611112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8" name="rs_n1"/>
          <p:cNvSpPr txBox="1"/>
          <p:nvPr/>
        </p:nvSpPr>
        <p:spPr>
          <a:xfrm>
            <a:off x="5193792" y="278892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rs_t1"/>
          <p:cNvSpPr txBox="1"/>
          <p:nvPr/>
        </p:nvSpPr>
        <p:spPr>
          <a:xfrm>
            <a:off x="5760720" y="2670048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Reason 2 — to be drawn from the completed model and valuation</a:t>
            </a:r>
            <a:endParaRPr lang="en-US" sz="1400" dirty="0"/>
          </a:p>
        </p:txBody>
      </p:sp>
      <p:sp>
        <p:nvSpPr>
          <p:cNvPr id="20" name="rs_bg2"/>
          <p:cNvSpPr/>
          <p:nvPr/>
        </p:nvSpPr>
        <p:spPr>
          <a:xfrm>
            <a:off x="5029200" y="3419856"/>
            <a:ext cx="6611112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1" name="rs_n2"/>
          <p:cNvSpPr txBox="1"/>
          <p:nvPr/>
        </p:nvSpPr>
        <p:spPr>
          <a:xfrm>
            <a:off x="5193792" y="353872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rs_t2"/>
          <p:cNvSpPr txBox="1"/>
          <p:nvPr/>
        </p:nvSpPr>
        <p:spPr>
          <a:xfrm>
            <a:off x="5760720" y="3419856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Reason 3 — to be drawn from the completed model and valuation</a:t>
            </a:r>
            <a:endParaRPr lang="en-US" sz="1400" dirty="0"/>
          </a:p>
        </p:txBody>
      </p:sp>
      <p:sp>
        <p:nvSpPr>
          <p:cNvPr id="23" name="risk_bg"/>
          <p:cNvSpPr/>
          <p:nvPr/>
        </p:nvSpPr>
        <p:spPr>
          <a:xfrm>
            <a:off x="5029200" y="4224528"/>
            <a:ext cx="66111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4" name="risk_ic_c"/>
          <p:cNvSpPr/>
          <p:nvPr/>
        </p:nvSpPr>
        <p:spPr>
          <a:xfrm>
            <a:off x="5193792" y="4389120"/>
            <a:ext cx="384048" cy="384048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25" name="risk_ic_i" descr="risk_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9804" y="4485132"/>
            <a:ext cx="192024" cy="192024"/>
          </a:xfrm>
          <a:prstGeom prst="rect">
            <a:avLst/>
          </a:prstGeom>
        </p:spPr>
      </p:pic>
      <p:sp>
        <p:nvSpPr>
          <p:cNvPr id="26" name="risk_t"/>
          <p:cNvSpPr txBox="1"/>
          <p:nvPr/>
        </p:nvSpPr>
        <p:spPr>
          <a:xfrm>
            <a:off x="5760720" y="4224528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PRINCIPAL DOWNSIDE RISK  </a:t>
            </a:r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to be identified from the bear-case analysis</a:t>
            </a:r>
            <a:endParaRPr lang="en-US" sz="1100" dirty="0"/>
          </a:p>
        </p:txBody>
      </p:sp>
      <p:sp>
        <p:nvSpPr>
          <p:cNvPr id="27" name="gauge_lbl"/>
          <p:cNvSpPr txBox="1"/>
          <p:nvPr/>
        </p:nvSpPr>
        <p:spPr>
          <a:xfrm>
            <a:off x="5029200" y="4983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BULL / BASE / BEAR VALUATION RANGE</a:t>
            </a:r>
            <a:endParaRPr lang="en-US" sz="1200" dirty="0"/>
          </a:p>
        </p:txBody>
      </p:sp>
      <p:sp>
        <p:nvSpPr>
          <p:cNvPr id="28" name="g_track"/>
          <p:cNvSpPr/>
          <p:nvPr/>
        </p:nvSpPr>
        <p:spPr>
          <a:xfrm>
            <a:off x="5303520" y="5422392"/>
            <a:ext cx="6062472" cy="91440"/>
          </a:xfrm>
          <a:prstGeom prst="roundRect">
            <a:avLst>
              <a:gd name="adj" fmla="val 50000"/>
            </a:avLst>
          </a:prstGeom>
          <a:solidFill>
            <a:srgbClr val="B8C0CC"/>
          </a:solidFill>
          <a:ln/>
        </p:spPr>
      </p:sp>
      <p:sp>
        <p:nvSpPr>
          <p:cNvPr id="29" name="g_dot0"/>
          <p:cNvSpPr/>
          <p:nvPr/>
        </p:nvSpPr>
        <p:spPr>
          <a:xfrm>
            <a:off x="5175504" y="5340096"/>
            <a:ext cx="256032" cy="256032"/>
          </a:xfrm>
          <a:prstGeom prst="ellipse">
            <a:avLst/>
          </a:prstGeom>
          <a:solidFill>
            <a:schemeClr val="accent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g_lbl0"/>
          <p:cNvSpPr txBox="1"/>
          <p:nvPr/>
        </p:nvSpPr>
        <p:spPr>
          <a:xfrm>
            <a:off x="4572000" y="561441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BEAR  ₹ —</a:t>
            </a:r>
            <a:endParaRPr lang="en-US" sz="1100" dirty="0"/>
          </a:p>
        </p:txBody>
      </p:sp>
      <p:sp>
        <p:nvSpPr>
          <p:cNvPr id="31" name="g_dot1"/>
          <p:cNvSpPr/>
          <p:nvPr/>
        </p:nvSpPr>
        <p:spPr>
          <a:xfrm>
            <a:off x="8206740" y="5340096"/>
            <a:ext cx="256032" cy="256032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g_lbl1"/>
          <p:cNvSpPr txBox="1"/>
          <p:nvPr/>
        </p:nvSpPr>
        <p:spPr>
          <a:xfrm>
            <a:off x="7603236" y="561441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BASE  ₹ —</a:t>
            </a:r>
            <a:endParaRPr lang="en-US" sz="1100" dirty="0"/>
          </a:p>
        </p:txBody>
      </p:sp>
      <p:sp>
        <p:nvSpPr>
          <p:cNvPr id="33" name="g_dot2"/>
          <p:cNvSpPr/>
          <p:nvPr/>
        </p:nvSpPr>
        <p:spPr>
          <a:xfrm>
            <a:off x="11237976" y="5340096"/>
            <a:ext cx="256032" cy="256032"/>
          </a:xfrm>
          <a:prstGeom prst="ellipse">
            <a:avLst/>
          </a:prstGeom>
          <a:solidFill>
            <a:schemeClr val="tx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g_lbl2"/>
          <p:cNvSpPr txBox="1"/>
          <p:nvPr/>
        </p:nvSpPr>
        <p:spPr>
          <a:xfrm>
            <a:off x="10634472" y="561441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BULL  ₹ —</a:t>
            </a:r>
            <a:endParaRPr lang="en-US" sz="1100" dirty="0"/>
          </a:p>
        </p:txBody>
      </p:sp>
      <p:sp>
        <p:nvSpPr>
          <p:cNvPr id="35" name="take_bg"/>
          <p:cNvSpPr/>
          <p:nvPr/>
        </p:nvSpPr>
        <p:spPr>
          <a:xfrm>
            <a:off x="548640" y="5943600"/>
            <a:ext cx="11091672" cy="43891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36" name="take_lbl"/>
          <p:cNvSpPr txBox="1"/>
          <p:nvPr/>
        </p:nvSpPr>
        <p:spPr>
          <a:xfrm>
            <a:off x="777240" y="594360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SO WHAT</a:t>
            </a:r>
            <a:endParaRPr lang="en-US" sz="1100" dirty="0"/>
          </a:p>
        </p:txBody>
      </p:sp>
      <p:sp>
        <p:nvSpPr>
          <p:cNvPr id="37" name="take_txt"/>
          <p:cNvSpPr txBox="1"/>
          <p:nvPr/>
        </p:nvSpPr>
        <p:spPr>
          <a:xfrm>
            <a:off x="1783080" y="5943600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Recommendation, price target and expected return stay blank until the financial model and valuation are complete.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2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2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53" presetClass="entr" presetSubtype="16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02  ·  COMPANY OVERVIEW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ITC has diversified beyond cigarettes—but its businesses have different economic models</a:t>
            </a:r>
            <a:endParaRPr lang="en-US" sz="2800" dirty="0"/>
          </a:p>
        </p:txBody>
      </p:sp>
      <p:sp>
        <p:nvSpPr>
          <p:cNvPr id="4" name="kpi_bg0"/>
          <p:cNvSpPr/>
          <p:nvPr/>
        </p:nvSpPr>
        <p:spPr>
          <a:xfrm>
            <a:off x="548640" y="1572768"/>
            <a:ext cx="37490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5" name="kpi_t0"/>
          <p:cNvSpPr txBox="1"/>
          <p:nvPr/>
        </p:nvSpPr>
        <p:spPr>
          <a:xfrm>
            <a:off x="731520" y="15727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FY2026 STANDALONE GROSS REVENUE   </a:t>
            </a:r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₹80,867 crore</a:t>
            </a:r>
            <a:endParaRPr lang="en-US" sz="1000" dirty="0"/>
          </a:p>
        </p:txBody>
      </p:sp>
      <p:sp>
        <p:nvSpPr>
          <p:cNvPr id="6" name="kpi_bg1"/>
          <p:cNvSpPr/>
          <p:nvPr/>
        </p:nvSpPr>
        <p:spPr>
          <a:xfrm>
            <a:off x="4480560" y="1572768"/>
            <a:ext cx="37490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7" name="kpi_t1"/>
          <p:cNvSpPr txBox="1"/>
          <p:nvPr/>
        </p:nvSpPr>
        <p:spPr>
          <a:xfrm>
            <a:off x="4663440" y="15727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FY2026 STANDALONE EBITDA   </a:t>
            </a:r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₹25,208 crore</a:t>
            </a:r>
            <a:endParaRPr lang="en-US" sz="1000" dirty="0"/>
          </a:p>
        </p:txBody>
      </p:sp>
      <p:sp>
        <p:nvSpPr>
          <p:cNvPr id="8" name="kpi_note"/>
          <p:cNvSpPr txBox="1"/>
          <p:nvPr/>
        </p:nvSpPr>
        <p:spPr>
          <a:xfrm>
            <a:off x="8412480" y="15727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Standalone figures — not consolidated</a:t>
            </a:r>
            <a:endParaRPr lang="en-US" sz="1100" dirty="0"/>
          </a:p>
        </p:txBody>
      </p:sp>
      <p:sp>
        <p:nvSpPr>
          <p:cNvPr id="9" name="tile0"/>
          <p:cNvSpPr/>
          <p:nvPr/>
        </p:nvSpPr>
        <p:spPr>
          <a:xfrm>
            <a:off x="548640" y="2148840"/>
            <a:ext cx="3575304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0" name="ti0_c"/>
          <p:cNvSpPr/>
          <p:nvPr/>
        </p:nvSpPr>
        <p:spPr>
          <a:xfrm>
            <a:off x="713232" y="2295144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ti0_i" descr="ti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962" y="2420874"/>
            <a:ext cx="251460" cy="251460"/>
          </a:xfrm>
          <a:prstGeom prst="rect">
            <a:avLst/>
          </a:prstGeom>
        </p:spPr>
      </p:pic>
      <p:sp>
        <p:nvSpPr>
          <p:cNvPr id="12" name="tn0"/>
          <p:cNvSpPr txBox="1"/>
          <p:nvPr/>
        </p:nvSpPr>
        <p:spPr>
          <a:xfrm>
            <a:off x="1353312" y="2276856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FMCG — Cigarettes</a:t>
            </a:r>
            <a:endParaRPr lang="en-US" sz="1400" dirty="0"/>
          </a:p>
        </p:txBody>
      </p:sp>
      <p:sp>
        <p:nvSpPr>
          <p:cNvPr id="13" name="td0"/>
          <p:cNvSpPr txBox="1"/>
          <p:nvPr/>
        </p:nvSpPr>
        <p:spPr>
          <a:xfrm>
            <a:off x="731520" y="2862072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Gold Flake, Classic, Wills Navy Cut and other cigarette brands</a:t>
            </a:r>
            <a:endParaRPr lang="en-US" sz="1150" dirty="0"/>
          </a:p>
        </p:txBody>
      </p:sp>
      <p:sp>
        <p:nvSpPr>
          <p:cNvPr id="14" name="tk0"/>
          <p:cNvSpPr txBox="1"/>
          <p:nvPr/>
        </p:nvSpPr>
        <p:spPr>
          <a:xfrm>
            <a:off x="731520" y="3246120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Drivers: </a:t>
            </a:r>
            <a:pPr indent="0" marL="0">
              <a:buNone/>
            </a:pPr>
            <a:r>
              <a:rPr lang="en-US" sz="1050" i="1" dirty="0">
                <a:solidFill>
                  <a:schemeClr val="accent3"/>
                </a:solidFill>
              </a:rPr>
              <a:t>Volume, pricing, product mix, taxation, regulation</a:t>
            </a:r>
            <a:endParaRPr lang="en-US" sz="1050" dirty="0"/>
          </a:p>
        </p:txBody>
      </p:sp>
      <p:sp>
        <p:nvSpPr>
          <p:cNvPr id="15" name="tile1"/>
          <p:cNvSpPr/>
          <p:nvPr/>
        </p:nvSpPr>
        <p:spPr>
          <a:xfrm>
            <a:off x="4306824" y="2148840"/>
            <a:ext cx="3575304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6" name="ti1_c"/>
          <p:cNvSpPr/>
          <p:nvPr/>
        </p:nvSpPr>
        <p:spPr>
          <a:xfrm>
            <a:off x="4471416" y="2295144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ti1_i" descr="ti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146" y="2420874"/>
            <a:ext cx="251460" cy="251460"/>
          </a:xfrm>
          <a:prstGeom prst="rect">
            <a:avLst/>
          </a:prstGeom>
        </p:spPr>
      </p:pic>
      <p:sp>
        <p:nvSpPr>
          <p:cNvPr id="18" name="tn1"/>
          <p:cNvSpPr txBox="1"/>
          <p:nvPr/>
        </p:nvSpPr>
        <p:spPr>
          <a:xfrm>
            <a:off x="5111496" y="2276856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FMCG — Others</a:t>
            </a:r>
            <a:endParaRPr lang="en-US" sz="1400" dirty="0"/>
          </a:p>
        </p:txBody>
      </p:sp>
      <p:sp>
        <p:nvSpPr>
          <p:cNvPr id="19" name="td1"/>
          <p:cNvSpPr txBox="1"/>
          <p:nvPr/>
        </p:nvSpPr>
        <p:spPr>
          <a:xfrm>
            <a:off x="4489704" y="2862072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Aashirvaad, Sunfeast, Bingo!, YiPPee!, Savlon, Classmate and more</a:t>
            </a:r>
            <a:endParaRPr lang="en-US" sz="1150" dirty="0"/>
          </a:p>
        </p:txBody>
      </p:sp>
      <p:sp>
        <p:nvSpPr>
          <p:cNvPr id="20" name="tk1"/>
          <p:cNvSpPr txBox="1"/>
          <p:nvPr/>
        </p:nvSpPr>
        <p:spPr>
          <a:xfrm>
            <a:off x="4489704" y="3246120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Drivers: </a:t>
            </a:r>
            <a:pPr indent="0" marL="0">
              <a:buNone/>
            </a:pPr>
            <a:r>
              <a:rPr lang="en-US" sz="1050" i="1" dirty="0">
                <a:solidFill>
                  <a:schemeClr val="accent3"/>
                </a:solidFill>
              </a:rPr>
              <a:t>Brand growth, market share, distribution, ad spend, margins</a:t>
            </a:r>
            <a:endParaRPr lang="en-US" sz="1050" dirty="0"/>
          </a:p>
        </p:txBody>
      </p:sp>
      <p:sp>
        <p:nvSpPr>
          <p:cNvPr id="21" name="tile2"/>
          <p:cNvSpPr/>
          <p:nvPr/>
        </p:nvSpPr>
        <p:spPr>
          <a:xfrm>
            <a:off x="8065008" y="2148840"/>
            <a:ext cx="3575304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22" name="ti2_c"/>
          <p:cNvSpPr/>
          <p:nvPr/>
        </p:nvSpPr>
        <p:spPr>
          <a:xfrm>
            <a:off x="8229600" y="2295144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ti2_i" descr="ti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2420874"/>
            <a:ext cx="251460" cy="251460"/>
          </a:xfrm>
          <a:prstGeom prst="rect">
            <a:avLst/>
          </a:prstGeom>
        </p:spPr>
      </p:pic>
      <p:sp>
        <p:nvSpPr>
          <p:cNvPr id="24" name="tn2"/>
          <p:cNvSpPr txBox="1"/>
          <p:nvPr/>
        </p:nvSpPr>
        <p:spPr>
          <a:xfrm>
            <a:off x="8869680" y="2276856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Agri Business</a:t>
            </a:r>
            <a:endParaRPr lang="en-US" sz="1400" dirty="0"/>
          </a:p>
        </p:txBody>
      </p:sp>
      <p:sp>
        <p:nvSpPr>
          <p:cNvPr id="25" name="td2"/>
          <p:cNvSpPr txBox="1"/>
          <p:nvPr/>
        </p:nvSpPr>
        <p:spPr>
          <a:xfrm>
            <a:off x="8247888" y="2862072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Agri sourcing, processing, commodity trading, exports, value-added products</a:t>
            </a:r>
            <a:endParaRPr lang="en-US" sz="1150" dirty="0"/>
          </a:p>
        </p:txBody>
      </p:sp>
      <p:sp>
        <p:nvSpPr>
          <p:cNvPr id="26" name="tk2"/>
          <p:cNvSpPr txBox="1"/>
          <p:nvPr/>
        </p:nvSpPr>
        <p:spPr>
          <a:xfrm>
            <a:off x="8247888" y="3246120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Drivers: </a:t>
            </a:r>
            <a:pPr indent="0" marL="0">
              <a:buNone/>
            </a:pPr>
            <a:r>
              <a:rPr lang="en-US" sz="1050" i="1" dirty="0">
                <a:solidFill>
                  <a:schemeClr val="accent3"/>
                </a:solidFill>
              </a:rPr>
              <a:t>Commodity prices, procurement efficiency, crop supply, export demand</a:t>
            </a:r>
            <a:endParaRPr lang="en-US" sz="1050" dirty="0"/>
          </a:p>
        </p:txBody>
      </p:sp>
      <p:sp>
        <p:nvSpPr>
          <p:cNvPr id="27" name="tile3"/>
          <p:cNvSpPr/>
          <p:nvPr/>
        </p:nvSpPr>
        <p:spPr>
          <a:xfrm>
            <a:off x="548640" y="3785616"/>
            <a:ext cx="3575304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28" name="ti3_c"/>
          <p:cNvSpPr/>
          <p:nvPr/>
        </p:nvSpPr>
        <p:spPr>
          <a:xfrm>
            <a:off x="713232" y="393192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9" name="ti3_i" descr="ti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962" y="4057650"/>
            <a:ext cx="251460" cy="251460"/>
          </a:xfrm>
          <a:prstGeom prst="rect">
            <a:avLst/>
          </a:prstGeom>
        </p:spPr>
      </p:pic>
      <p:sp>
        <p:nvSpPr>
          <p:cNvPr id="30" name="tn3"/>
          <p:cNvSpPr txBox="1"/>
          <p:nvPr/>
        </p:nvSpPr>
        <p:spPr>
          <a:xfrm>
            <a:off x="1353312" y="3913632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Paperboards, Paper &amp; Packaging</a:t>
            </a:r>
            <a:endParaRPr lang="en-US" sz="1400" dirty="0"/>
          </a:p>
        </p:txBody>
      </p:sp>
      <p:sp>
        <p:nvSpPr>
          <p:cNvPr id="31" name="td3"/>
          <p:cNvSpPr txBox="1"/>
          <p:nvPr/>
        </p:nvSpPr>
        <p:spPr>
          <a:xfrm>
            <a:off x="731520" y="4498848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Paperboards, specialty papers, flexible packaging, cartons</a:t>
            </a:r>
            <a:endParaRPr lang="en-US" sz="1150" dirty="0"/>
          </a:p>
        </p:txBody>
      </p:sp>
      <p:sp>
        <p:nvSpPr>
          <p:cNvPr id="32" name="tk3"/>
          <p:cNvSpPr txBox="1"/>
          <p:nvPr/>
        </p:nvSpPr>
        <p:spPr>
          <a:xfrm>
            <a:off x="731520" y="4882896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Drivers: </a:t>
            </a:r>
            <a:pPr indent="0" marL="0">
              <a:buNone/>
            </a:pPr>
            <a:r>
              <a:rPr lang="en-US" sz="1050" i="1" dirty="0">
                <a:solidFill>
                  <a:schemeClr val="accent3"/>
                </a:solidFill>
              </a:rPr>
              <a:t>Realisations, input costs, utilisation, demand</a:t>
            </a:r>
            <a:endParaRPr lang="en-US" sz="1050" dirty="0"/>
          </a:p>
        </p:txBody>
      </p:sp>
      <p:sp>
        <p:nvSpPr>
          <p:cNvPr id="33" name="tile4"/>
          <p:cNvSpPr/>
          <p:nvPr/>
        </p:nvSpPr>
        <p:spPr>
          <a:xfrm>
            <a:off x="4306824" y="3785616"/>
            <a:ext cx="3575304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34" name="ti4_c"/>
          <p:cNvSpPr/>
          <p:nvPr/>
        </p:nvSpPr>
        <p:spPr>
          <a:xfrm>
            <a:off x="4471416" y="393192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5" name="ti4_i" descr="ti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7146" y="4057650"/>
            <a:ext cx="251460" cy="251460"/>
          </a:xfrm>
          <a:prstGeom prst="rect">
            <a:avLst/>
          </a:prstGeom>
        </p:spPr>
      </p:pic>
      <p:sp>
        <p:nvSpPr>
          <p:cNvPr id="36" name="tn4"/>
          <p:cNvSpPr txBox="1"/>
          <p:nvPr/>
        </p:nvSpPr>
        <p:spPr>
          <a:xfrm>
            <a:off x="5111496" y="3913632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Information Technology</a:t>
            </a:r>
            <a:endParaRPr lang="en-US" sz="1400" dirty="0"/>
          </a:p>
        </p:txBody>
      </p:sp>
      <p:sp>
        <p:nvSpPr>
          <p:cNvPr id="37" name="td4"/>
          <p:cNvSpPr txBox="1"/>
          <p:nvPr/>
        </p:nvSpPr>
        <p:spPr>
          <a:xfrm>
            <a:off x="4489704" y="4498848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ITC Infotech — technology services and solutions via a subsidiary</a:t>
            </a:r>
            <a:endParaRPr lang="en-US" sz="1150" dirty="0"/>
          </a:p>
        </p:txBody>
      </p:sp>
      <p:sp>
        <p:nvSpPr>
          <p:cNvPr id="38" name="tk4"/>
          <p:cNvSpPr txBox="1"/>
          <p:nvPr/>
        </p:nvSpPr>
        <p:spPr>
          <a:xfrm>
            <a:off x="4489704" y="4882896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Drivers: </a:t>
            </a:r>
            <a:pPr indent="0" marL="0">
              <a:buNone/>
            </a:pPr>
            <a:r>
              <a:rPr lang="en-US" sz="1050" i="1" dirty="0">
                <a:solidFill>
                  <a:schemeClr val="accent3"/>
                </a:solidFill>
              </a:rPr>
              <a:t>Enterprise client demand, service mix, delivery efficiency, tech spend</a:t>
            </a:r>
            <a:endParaRPr lang="en-US" sz="1050" dirty="0"/>
          </a:p>
        </p:txBody>
      </p:sp>
      <p:sp>
        <p:nvSpPr>
          <p:cNvPr id="39" name="tile5"/>
          <p:cNvSpPr/>
          <p:nvPr/>
        </p:nvSpPr>
        <p:spPr>
          <a:xfrm>
            <a:off x="8065008" y="3785616"/>
            <a:ext cx="357530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40" name="ti5_c"/>
          <p:cNvSpPr/>
          <p:nvPr/>
        </p:nvSpPr>
        <p:spPr>
          <a:xfrm>
            <a:off x="8229600" y="393192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1" name="ti5_i" descr="ti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330" y="4057650"/>
            <a:ext cx="251460" cy="251460"/>
          </a:xfrm>
          <a:prstGeom prst="rect">
            <a:avLst/>
          </a:prstGeom>
        </p:spPr>
      </p:pic>
      <p:sp>
        <p:nvSpPr>
          <p:cNvPr id="42" name="tn5"/>
          <p:cNvSpPr txBox="1"/>
          <p:nvPr/>
        </p:nvSpPr>
        <p:spPr>
          <a:xfrm>
            <a:off x="8869680" y="3913632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ITC Hotels Limited — Associate</a:t>
            </a:r>
            <a:endParaRPr lang="en-US" sz="1400" dirty="0"/>
          </a:p>
        </p:txBody>
      </p:sp>
      <p:sp>
        <p:nvSpPr>
          <p:cNvPr id="43" name="td5"/>
          <p:cNvSpPr txBox="1"/>
          <p:nvPr/>
        </p:nvSpPr>
        <p:spPr>
          <a:xfrm>
            <a:off x="8247888" y="4498848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Separately listed hotel company; ITC holds ~40% (verify at valuation cutoff)</a:t>
            </a:r>
            <a:endParaRPr lang="en-US" sz="1150" dirty="0"/>
          </a:p>
        </p:txBody>
      </p:sp>
      <p:sp>
        <p:nvSpPr>
          <p:cNvPr id="44" name="tk5"/>
          <p:cNvSpPr txBox="1"/>
          <p:nvPr/>
        </p:nvSpPr>
        <p:spPr>
          <a:xfrm>
            <a:off x="8247888" y="4882896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Drivers: </a:t>
            </a:r>
            <a:pPr indent="0" marL="0">
              <a:buNone/>
            </a:pPr>
            <a:r>
              <a:rPr lang="en-US" sz="1050" i="1" dirty="0">
                <a:solidFill>
                  <a:schemeClr val="accent3"/>
                </a:solidFill>
              </a:rPr>
              <a:t>Occupancy, ARR, RevPAR, management fees, expansion economics</a:t>
            </a:r>
            <a:endParaRPr lang="en-US" sz="1050" dirty="0"/>
          </a:p>
        </p:txBody>
      </p:sp>
      <p:sp>
        <p:nvSpPr>
          <p:cNvPr id="45" name="assoc_tag"/>
          <p:cNvSpPr txBox="1"/>
          <p:nvPr/>
        </p:nvSpPr>
        <p:spPr>
          <a:xfrm>
            <a:off x="10588752" y="3877056"/>
            <a:ext cx="914400" cy="20116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ASSOCIATE</a:t>
            </a:r>
            <a:endParaRPr lang="en-US" sz="900" dirty="0"/>
          </a:p>
        </p:txBody>
      </p:sp>
      <p:sp>
        <p:nvSpPr>
          <p:cNvPr id="46" name="take_bg"/>
          <p:cNvSpPr/>
          <p:nvPr/>
        </p:nvSpPr>
        <p:spPr>
          <a:xfrm>
            <a:off x="548640" y="5468112"/>
            <a:ext cx="11091672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47" name="take_lbl"/>
          <p:cNvSpPr txBox="1"/>
          <p:nvPr/>
        </p:nvSpPr>
        <p:spPr>
          <a:xfrm>
            <a:off x="777240" y="54681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SO WHAT</a:t>
            </a:r>
            <a:endParaRPr lang="en-US" sz="1100" dirty="0"/>
          </a:p>
        </p:txBody>
      </p:sp>
      <p:sp>
        <p:nvSpPr>
          <p:cNvPr id="48" name="take_txt"/>
          <p:cNvSpPr txBox="1"/>
          <p:nvPr/>
        </p:nvSpPr>
        <p:spPr>
          <a:xfrm>
            <a:off x="1783080" y="546811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ITC's portfolio spans consumer brands, agri sourcing, paper &amp; packaging, technology and a separately held hotel stake — we must distinguish the business portfolio from the financial reporting segments.</a:t>
            </a:r>
            <a:endParaRPr lang="en-US" sz="1400" dirty="0"/>
          </a:p>
        </p:txBody>
      </p:sp>
      <p:sp>
        <p:nvSpPr>
          <p:cNvPr id="49" name="foot"/>
          <p:cNvSpPr txBox="1"/>
          <p:nvPr/>
        </p:nvSpPr>
        <p:spPr>
          <a:xfrm>
            <a:off x="548640" y="608076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Sources: ITC business portfolio (itcportal.com/itc-businesses.html); ITC FY2026 audited results (21 May 2026) and Q4 FY2026 results presentation; ITC Hotels FY2026 results. Reporting note: ITC's website lists Paperboards &amp; Specialty Papers and Packaging separately; its reported financial segment is Paperboards, Paper &amp; Packaging. The Hotels business was demerged into ITC Hotels Limited effective 1 January 2025.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53" presetClass="entr" presetSubtype="16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5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nodeType="withEffect">
                                  <p:stCondLst>
                                    <p:cond delay="305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 ·  PROFIT POOLS &amp; CAPITAL ALLOCATION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Cigarettes generated 82.2% of ITC's FY2026 consolidated segment results</a:t>
            </a:r>
            <a:endParaRPr lang="en-US" sz="2800" dirty="0"/>
          </a:p>
        </p:txBody>
      </p:sp>
      <p:sp>
        <p:nvSpPr>
          <p:cNvPr id="4" name="l_lbl"/>
          <p:cNvSpPr txBox="1"/>
          <p:nvPr/>
        </p:nvSpPr>
        <p:spPr>
          <a:xfrm>
            <a:off x="548640" y="157276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FY2026 consolidated segment results  (₹ crore)  —  total 27,066, +5.0% YoY</a:t>
            </a:r>
            <a:endParaRPr lang="en-US" sz="1200" dirty="0"/>
          </a:p>
        </p:txBody>
      </p:sp>
      <p:graphicFrame>
        <p:nvGraphicFramePr>
          <p:cNvPr id="5" name="chart_results" descr=""/>
          <p:cNvGraphicFramePr/>
          <p:nvPr/>
        </p:nvGraphicFramePr>
        <p:xfrm>
          <a:off x="548640" y="1828800"/>
          <a:ext cx="63093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yoy"/>
          <p:cNvSpPr txBox="1"/>
          <p:nvPr/>
        </p:nvSpPr>
        <p:spPr>
          <a:xfrm>
            <a:off x="548640" y="4187952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YoY:  Cigarettes +5.5%   ·   FMCG–Others +13.9%   ·   Agri +2.9%   ·   Paper &amp; Pkg −14.6%   ·   Others ≈ flat</a:t>
            </a:r>
            <a:endParaRPr lang="en-US" sz="1000" dirty="0"/>
          </a:p>
        </p:txBody>
      </p:sp>
      <p:sp>
        <p:nvSpPr>
          <p:cNvPr id="7" name="r_lbl"/>
          <p:cNvSpPr txBox="1"/>
          <p:nvPr/>
        </p:nvSpPr>
        <p:spPr>
          <a:xfrm>
            <a:off x="7223760" y="15727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FY2026 segment capex  (₹ crore)</a:t>
            </a:r>
            <a:endParaRPr lang="en-US" sz="1200" dirty="0"/>
          </a:p>
        </p:txBody>
      </p:sp>
      <p:graphicFrame>
        <p:nvGraphicFramePr>
          <p:cNvPr id="8" name="chart_capex" descr=""/>
          <p:cNvGraphicFramePr/>
          <p:nvPr/>
        </p:nvGraphicFramePr>
        <p:xfrm>
          <a:off x="7223760" y="1828800"/>
          <a:ext cx="4416552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cap_bg0"/>
          <p:cNvSpPr/>
          <p:nvPr/>
        </p:nvSpPr>
        <p:spPr>
          <a:xfrm>
            <a:off x="7223760" y="3456432"/>
            <a:ext cx="1399032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0" name="cap_v0"/>
          <p:cNvSpPr txBox="1"/>
          <p:nvPr/>
        </p:nvSpPr>
        <p:spPr>
          <a:xfrm>
            <a:off x="7223760" y="3474720"/>
            <a:ext cx="1399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2,454</a:t>
            </a:r>
            <a:endParaRPr lang="en-US" sz="2000" dirty="0"/>
          </a:p>
        </p:txBody>
      </p:sp>
      <p:sp>
        <p:nvSpPr>
          <p:cNvPr id="11" name="cap_l0"/>
          <p:cNvSpPr txBox="1"/>
          <p:nvPr/>
        </p:nvSpPr>
        <p:spPr>
          <a:xfrm>
            <a:off x="7223760" y="3822192"/>
            <a:ext cx="1399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Segment capex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(₹ crore)</a:t>
            </a:r>
            <a:endParaRPr lang="en-US" sz="900" dirty="0"/>
          </a:p>
        </p:txBody>
      </p:sp>
      <p:sp>
        <p:nvSpPr>
          <p:cNvPr id="12" name="cap_bg1"/>
          <p:cNvSpPr/>
          <p:nvPr/>
        </p:nvSpPr>
        <p:spPr>
          <a:xfrm>
            <a:off x="8732520" y="3456432"/>
            <a:ext cx="1399032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3" name="cap_v1"/>
          <p:cNvSpPr txBox="1"/>
          <p:nvPr/>
        </p:nvSpPr>
        <p:spPr>
          <a:xfrm>
            <a:off x="8732520" y="3474720"/>
            <a:ext cx="1399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298</a:t>
            </a:r>
            <a:endParaRPr lang="en-US" sz="2000" dirty="0"/>
          </a:p>
        </p:txBody>
      </p:sp>
      <p:sp>
        <p:nvSpPr>
          <p:cNvPr id="14" name="cap_l1"/>
          <p:cNvSpPr txBox="1"/>
          <p:nvPr/>
        </p:nvSpPr>
        <p:spPr>
          <a:xfrm>
            <a:off x="8732520" y="3822192"/>
            <a:ext cx="1399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Unallocated corporate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(₹ crore)</a:t>
            </a:r>
            <a:endParaRPr lang="en-US" sz="900" dirty="0"/>
          </a:p>
        </p:txBody>
      </p:sp>
      <p:sp>
        <p:nvSpPr>
          <p:cNvPr id="15" name="cap_bg2"/>
          <p:cNvSpPr/>
          <p:nvPr/>
        </p:nvSpPr>
        <p:spPr>
          <a:xfrm>
            <a:off x="10241280" y="3456432"/>
            <a:ext cx="1399032" cy="749808"/>
          </a:xfrm>
          <a:prstGeom prst="roundRect">
            <a:avLst>
              <a:gd name="adj" fmla="val 9756"/>
            </a:avLst>
          </a:prstGeom>
          <a:solidFill>
            <a:schemeClr val="tx2"/>
          </a:solidFill>
          <a:ln/>
        </p:spPr>
      </p:sp>
      <p:sp>
        <p:nvSpPr>
          <p:cNvPr id="16" name="cap_v2"/>
          <p:cNvSpPr txBox="1"/>
          <p:nvPr/>
        </p:nvSpPr>
        <p:spPr>
          <a:xfrm>
            <a:off x="10241280" y="3474720"/>
            <a:ext cx="1399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2,752</a:t>
            </a:r>
            <a:endParaRPr lang="en-US" sz="2000" dirty="0"/>
          </a:p>
        </p:txBody>
      </p:sp>
      <p:sp>
        <p:nvSpPr>
          <p:cNvPr id="17" name="cap_l2"/>
          <p:cNvSpPr txBox="1"/>
          <p:nvPr/>
        </p:nvSpPr>
        <p:spPr>
          <a:xfrm>
            <a:off x="10241280" y="3822192"/>
            <a:ext cx="1399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Total consolidated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(₹ crore)</a:t>
            </a:r>
            <a:endParaRPr lang="en-US" sz="900" dirty="0"/>
          </a:p>
        </p:txBody>
      </p:sp>
      <p:sp>
        <p:nvSpPr>
          <p:cNvPr id="18" name="in_bg0"/>
          <p:cNvSpPr/>
          <p:nvPr/>
        </p:nvSpPr>
        <p:spPr>
          <a:xfrm>
            <a:off x="548640" y="4553712"/>
            <a:ext cx="3575304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9" name="in_l0"/>
          <p:cNvSpPr txBox="1"/>
          <p:nvPr/>
        </p:nvSpPr>
        <p:spPr>
          <a:xfrm>
            <a:off x="713232" y="46177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TODAY'S PROFIT ENGINE</a:t>
            </a:r>
            <a:endParaRPr lang="en-US" sz="1050" dirty="0"/>
          </a:p>
        </p:txBody>
      </p:sp>
      <p:sp>
        <p:nvSpPr>
          <p:cNvPr id="20" name="in_t0"/>
          <p:cNvSpPr txBox="1"/>
          <p:nvPr/>
        </p:nvSpPr>
        <p:spPr>
          <a:xfrm>
            <a:off x="713232" y="484632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Cigarettes ≈ 82.2% of total reported segment results.</a:t>
            </a:r>
            <a:endParaRPr lang="en-US" sz="1200" dirty="0"/>
          </a:p>
        </p:txBody>
      </p:sp>
      <p:sp>
        <p:nvSpPr>
          <p:cNvPr id="21" name="in_bg1"/>
          <p:cNvSpPr/>
          <p:nvPr/>
        </p:nvSpPr>
        <p:spPr>
          <a:xfrm>
            <a:off x="4306824" y="4553712"/>
            <a:ext cx="3575304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2" name="in_l1"/>
          <p:cNvSpPr txBox="1"/>
          <p:nvPr/>
        </p:nvSpPr>
        <p:spPr>
          <a:xfrm>
            <a:off x="4471416" y="46177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tx2"/>
                </a:solidFill>
              </a:rPr>
              <a:t>THE GROWTH CANDIDATE</a:t>
            </a:r>
            <a:endParaRPr lang="en-US" sz="1050" dirty="0"/>
          </a:p>
        </p:txBody>
      </p:sp>
      <p:sp>
        <p:nvSpPr>
          <p:cNvPr id="23" name="in_t1"/>
          <p:cNvSpPr txBox="1"/>
          <p:nvPr/>
        </p:nvSpPr>
        <p:spPr>
          <a:xfrm>
            <a:off x="4471416" y="484632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FMCG–Others results +13.9% in FY2026 and the largest segment capex share (₹970 cr).</a:t>
            </a:r>
            <a:endParaRPr lang="en-US" sz="1200" dirty="0"/>
          </a:p>
        </p:txBody>
      </p:sp>
      <p:sp>
        <p:nvSpPr>
          <p:cNvPr id="24" name="in_bg2"/>
          <p:cNvSpPr/>
          <p:nvPr/>
        </p:nvSpPr>
        <p:spPr>
          <a:xfrm>
            <a:off x="8065008" y="4553712"/>
            <a:ext cx="3575304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5" name="in_l2"/>
          <p:cNvSpPr txBox="1"/>
          <p:nvPr/>
        </p:nvSpPr>
        <p:spPr>
          <a:xfrm>
            <a:off x="8229600" y="46177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tx2"/>
                </a:solidFill>
              </a:rPr>
              <a:t>THE INVESTMENT QUESTION</a:t>
            </a:r>
            <a:endParaRPr lang="en-US" sz="1050" dirty="0"/>
          </a:p>
        </p:txBody>
      </p:sp>
      <p:sp>
        <p:nvSpPr>
          <p:cNvPr id="26" name="in_t2"/>
          <p:cNvSpPr txBox="1"/>
          <p:nvPr/>
        </p:nvSpPr>
        <p:spPr>
          <a:xfrm>
            <a:off x="8229600" y="484632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Can newer consumer businesses turn growth and reinvestment into sustainably attractive incremental returns?</a:t>
            </a:r>
            <a:endParaRPr lang="en-US" sz="1200" dirty="0"/>
          </a:p>
        </p:txBody>
      </p:sp>
      <p:sp>
        <p:nvSpPr>
          <p:cNvPr id="27" name="take_bg"/>
          <p:cNvSpPr/>
          <p:nvPr/>
        </p:nvSpPr>
        <p:spPr>
          <a:xfrm>
            <a:off x="548640" y="5559552"/>
            <a:ext cx="11091672" cy="530352"/>
          </a:xfrm>
          <a:prstGeom prst="roundRect">
            <a:avLst>
              <a:gd name="adj" fmla="val 13793"/>
            </a:avLst>
          </a:prstGeom>
          <a:solidFill>
            <a:schemeClr val="tx2"/>
          </a:solidFill>
          <a:ln/>
        </p:spPr>
      </p:sp>
      <p:sp>
        <p:nvSpPr>
          <p:cNvPr id="28" name="take_lbl"/>
          <p:cNvSpPr txBox="1"/>
          <p:nvPr/>
        </p:nvSpPr>
        <p:spPr>
          <a:xfrm>
            <a:off x="777240" y="555955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SO WHAT</a:t>
            </a:r>
            <a:endParaRPr lang="en-US" sz="1100" dirty="0"/>
          </a:p>
        </p:txBody>
      </p:sp>
      <p:sp>
        <p:nvSpPr>
          <p:cNvPr id="29" name="take_txt"/>
          <p:cNvSpPr txBox="1"/>
          <p:nvPr/>
        </p:nvSpPr>
        <p:spPr>
          <a:xfrm>
            <a:off x="1783080" y="5559552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ITC has diversified its business portfolio more than its operating-profit base. The question is whether non-cigarette businesses can add profit without compromising capital efficiency.</a:t>
            </a:r>
            <a:endParaRPr lang="en-US" sz="1400" dirty="0"/>
          </a:p>
        </p:txBody>
      </p:sp>
      <p:sp>
        <p:nvSpPr>
          <p:cNvPr id="30" name="foot"/>
          <p:cNvSpPr txBox="1"/>
          <p:nvPr/>
        </p:nvSpPr>
        <p:spPr>
          <a:xfrm>
            <a:off x="548640" y="614476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Source: ITC audited consolidated results FY2026 (segment revenue, results, assets, liabilities); ITC Report &amp; Accounts 2026 (capex) — itcportal.com. Chart rounded to nearest ₹ crore; shares may sum to 100.1% due to rounding. Segment results are not PAT, free cash flow or EVA — not net profit or ROCE.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nodeType="withEffect">
                                  <p:stCondLst>
                                    <p:cond delay="29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41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04  ·  INDUSTRY &amp; COMPETITOR BENCHMARKING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Where does ITC possess a durable competitive advantage—and where is it vulnerable?</a:t>
            </a:r>
            <a:endParaRPr lang="en-US" sz="2800" dirty="0"/>
          </a:p>
        </p:txBody>
      </p:sp>
      <p:sp>
        <p:nvSpPr>
          <p:cNvPr id="4" name="pend"/>
          <p:cNvSpPr txBox="1"/>
          <p:nvPr/>
        </p:nvSpPr>
        <p:spPr>
          <a:xfrm>
            <a:off x="9509760" y="256032"/>
            <a:ext cx="2130552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PENDING INDUSTRY RESEARCH</a:t>
            </a:r>
            <a:endParaRPr lang="en-US" sz="1000" dirty="0"/>
          </a:p>
        </p:txBody>
      </p:sp>
      <p:sp>
        <p:nvSpPr>
          <p:cNvPr id="5" name="pn0"/>
          <p:cNvSpPr/>
          <p:nvPr/>
        </p:nvSpPr>
        <p:spPr>
          <a:xfrm>
            <a:off x="548640" y="1627632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6" name="pi0_c"/>
          <p:cNvSpPr/>
          <p:nvPr/>
        </p:nvSpPr>
        <p:spPr>
          <a:xfrm>
            <a:off x="731520" y="179222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pi0_i" descr="pi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906524"/>
            <a:ext cx="228600" cy="228600"/>
          </a:xfrm>
          <a:prstGeom prst="rect">
            <a:avLst/>
          </a:prstGeom>
        </p:spPr>
      </p:pic>
      <p:sp>
        <p:nvSpPr>
          <p:cNvPr id="8" name="pt0"/>
          <p:cNvSpPr txBox="1"/>
          <p:nvPr/>
        </p:nvSpPr>
        <p:spPr>
          <a:xfrm>
            <a:off x="1325880" y="179222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Cigarettes</a:t>
            </a:r>
            <a:endParaRPr lang="en-US" sz="1600" dirty="0"/>
          </a:p>
        </p:txBody>
      </p:sp>
      <p:sp>
        <p:nvSpPr>
          <p:cNvPr id="9" name="pd0"/>
          <p:cNvSpPr txBox="1"/>
          <p:nvPr/>
        </p:nvSpPr>
        <p:spPr>
          <a:xfrm>
            <a:off x="731520" y="240487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Taxation, regulation, pricing, demand and illicit-market risk</a:t>
            </a:r>
            <a:endParaRPr lang="en-US" sz="1250" dirty="0"/>
          </a:p>
        </p:txBody>
      </p:sp>
      <p:sp>
        <p:nvSpPr>
          <p:cNvPr id="10" name="pn1"/>
          <p:cNvSpPr/>
          <p:nvPr/>
        </p:nvSpPr>
        <p:spPr>
          <a:xfrm>
            <a:off x="3362249" y="1627632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1" name="pi1_c"/>
          <p:cNvSpPr/>
          <p:nvPr/>
        </p:nvSpPr>
        <p:spPr>
          <a:xfrm>
            <a:off x="3545129" y="1792224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pi1_i" descr="pi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429" y="1906524"/>
            <a:ext cx="228600" cy="228600"/>
          </a:xfrm>
          <a:prstGeom prst="rect">
            <a:avLst/>
          </a:prstGeom>
        </p:spPr>
      </p:pic>
      <p:sp>
        <p:nvSpPr>
          <p:cNvPr id="13" name="pt1"/>
          <p:cNvSpPr txBox="1"/>
          <p:nvPr/>
        </p:nvSpPr>
        <p:spPr>
          <a:xfrm>
            <a:off x="4139489" y="179222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FMCG</a:t>
            </a:r>
            <a:endParaRPr lang="en-US" sz="1600" dirty="0"/>
          </a:p>
        </p:txBody>
      </p:sp>
      <p:sp>
        <p:nvSpPr>
          <p:cNvPr id="14" name="pd1"/>
          <p:cNvSpPr txBox="1"/>
          <p:nvPr/>
        </p:nvSpPr>
        <p:spPr>
          <a:xfrm>
            <a:off x="3545129" y="240487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Branded packaged-goods growth, market share, advertising and competition</a:t>
            </a:r>
            <a:endParaRPr lang="en-US" sz="1250" dirty="0"/>
          </a:p>
        </p:txBody>
      </p:sp>
      <p:sp>
        <p:nvSpPr>
          <p:cNvPr id="15" name="pn2"/>
          <p:cNvSpPr/>
          <p:nvPr/>
        </p:nvSpPr>
        <p:spPr>
          <a:xfrm>
            <a:off x="6175858" y="1627632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6" name="pi2_c"/>
          <p:cNvSpPr/>
          <p:nvPr/>
        </p:nvSpPr>
        <p:spPr>
          <a:xfrm>
            <a:off x="6358738" y="1792224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pi2_i" descr="pi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038" y="1906524"/>
            <a:ext cx="228600" cy="228600"/>
          </a:xfrm>
          <a:prstGeom prst="rect">
            <a:avLst/>
          </a:prstGeom>
        </p:spPr>
      </p:pic>
      <p:sp>
        <p:nvSpPr>
          <p:cNvPr id="18" name="pt2"/>
          <p:cNvSpPr txBox="1"/>
          <p:nvPr/>
        </p:nvSpPr>
        <p:spPr>
          <a:xfrm>
            <a:off x="6953098" y="179222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Paper &amp; Packaging</a:t>
            </a:r>
            <a:endParaRPr lang="en-US" sz="1600" dirty="0"/>
          </a:p>
        </p:txBody>
      </p:sp>
      <p:sp>
        <p:nvSpPr>
          <p:cNvPr id="19" name="pd2"/>
          <p:cNvSpPr txBox="1"/>
          <p:nvPr/>
        </p:nvSpPr>
        <p:spPr>
          <a:xfrm>
            <a:off x="6358738" y="240487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Input costs, capacity utilisation, pricing and demand</a:t>
            </a:r>
            <a:endParaRPr lang="en-US" sz="1250" dirty="0"/>
          </a:p>
        </p:txBody>
      </p:sp>
      <p:sp>
        <p:nvSpPr>
          <p:cNvPr id="20" name="pn3"/>
          <p:cNvSpPr/>
          <p:nvPr/>
        </p:nvSpPr>
        <p:spPr>
          <a:xfrm>
            <a:off x="8989466" y="1627632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21" name="pi3_c"/>
          <p:cNvSpPr/>
          <p:nvPr/>
        </p:nvSpPr>
        <p:spPr>
          <a:xfrm>
            <a:off x="9172346" y="1792224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2" name="pi3_i" descr="pi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646" y="1906524"/>
            <a:ext cx="228600" cy="228600"/>
          </a:xfrm>
          <a:prstGeom prst="rect">
            <a:avLst/>
          </a:prstGeom>
        </p:spPr>
      </p:pic>
      <p:sp>
        <p:nvSpPr>
          <p:cNvPr id="23" name="pt3"/>
          <p:cNvSpPr txBox="1"/>
          <p:nvPr/>
        </p:nvSpPr>
        <p:spPr>
          <a:xfrm>
            <a:off x="9766706" y="179222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Agri Business</a:t>
            </a:r>
            <a:endParaRPr lang="en-US" sz="1600" dirty="0"/>
          </a:p>
        </p:txBody>
      </p:sp>
      <p:sp>
        <p:nvSpPr>
          <p:cNvPr id="24" name="pd3"/>
          <p:cNvSpPr txBox="1"/>
          <p:nvPr/>
        </p:nvSpPr>
        <p:spPr>
          <a:xfrm>
            <a:off x="9172346" y="240487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Commodity volatility, sourcing and export demand</a:t>
            </a:r>
            <a:endParaRPr lang="en-US" sz="1250" dirty="0"/>
          </a:p>
        </p:txBody>
      </p:sp>
      <p:sp>
        <p:nvSpPr>
          <p:cNvPr id="25" name="peer_lbl"/>
          <p:cNvSpPr txBox="1"/>
          <p:nvPr/>
        </p:nvSpPr>
        <p:spPr>
          <a:xfrm>
            <a:off x="548640" y="34015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PEER COMPARISON  —  standardised reporting periods, margins and valuation dates</a:t>
            </a:r>
            <a:endParaRPr lang="en-US" sz="1200" dirty="0"/>
          </a:p>
        </p:txBody>
      </p:sp>
      <p:graphicFrame>
        <p:nvGraphicFramePr>
          <p:cNvPr id="6" name="peer_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0332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07992"/>
                <a:gridCol w="1645920"/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Business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Candidate peers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Reporting period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Margins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Valuation (date)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94B"/>
                          </a:solidFill>
                        </a:rPr>
                        <a:t>Cigarettes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577"/>
                          </a:solidFill>
                        </a:rPr>
                        <a:t>Godfrey Phillips India, VST Industries (starting points)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5B6577"/>
                          </a:solidFill>
                        </a:rPr>
                        <a:t>Pending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5B6577"/>
                          </a:solidFill>
                        </a:rPr>
                        <a:t>Pending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5B6577"/>
                          </a:solidFill>
                        </a:rPr>
                        <a:t>Pending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94B"/>
                          </a:solidFill>
                        </a:rPr>
                        <a:t>FMCG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577"/>
                          </a:solidFill>
                        </a:rPr>
                        <a:t>Selected branded FMCG companies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5B6577"/>
                          </a:solidFill>
                        </a:rPr>
                        <a:t>Pending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5B6577"/>
                          </a:solidFill>
                        </a:rPr>
                        <a:t>Pending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5B6577"/>
                          </a:solidFill>
                        </a:rPr>
                        <a:t>Pending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94B"/>
                          </a:solidFill>
                        </a:rPr>
                        <a:t>Paper &amp; Packaging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577"/>
                          </a:solidFill>
                        </a:rPr>
                        <a:t>Selected paper &amp; packaging manufacturers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5B6577"/>
                          </a:solidFill>
                        </a:rPr>
                        <a:t>Pending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5B6577"/>
                          </a:solidFill>
                        </a:rPr>
                        <a:t>Pending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5B6577"/>
                          </a:solidFill>
                        </a:rPr>
                        <a:t>Pending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94B"/>
                          </a:solidFill>
                        </a:rPr>
                        <a:t>Agri Business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577"/>
                          </a:solidFill>
                        </a:rPr>
                        <a:t>To be selected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5B6577"/>
                          </a:solidFill>
                        </a:rPr>
                        <a:t>Pending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5B6577"/>
                          </a:solidFill>
                        </a:rPr>
                        <a:t>Pending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5B6577"/>
                          </a:solidFill>
                        </a:rPr>
                        <a:t>Pending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27" name="take_bg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</p:spPr>
      </p:sp>
      <p:sp>
        <p:nvSpPr>
          <p:cNvPr id="28" name="take_lbl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SO WHAT</a:t>
            </a:r>
            <a:endParaRPr lang="en-US" sz="1100" dirty="0"/>
          </a:p>
        </p:txBody>
      </p:sp>
      <p:sp>
        <p:nvSpPr>
          <p:cNvPr id="29" name="take_txt"/>
          <p:cNvSpPr txBox="1"/>
          <p:nvPr/>
        </p:nvSpPr>
        <p:spPr>
          <a:xfrm>
            <a:off x="1783080" y="576072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No unverified market shares or industry-size estimates will appear here — only sourced figures and like-for-like comparisons.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4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36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05  ·  FINANCIAL PERFORMANCE &amp; CAPITAL EFFICIENCY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Profit contribution, capital invested and incremental returns tell different stories</a:t>
            </a:r>
            <a:endParaRPr lang="en-US" sz="2800" dirty="0"/>
          </a:p>
        </p:txBody>
      </p:sp>
      <p:sp>
        <p:nvSpPr>
          <p:cNvPr id="4" name="l_lbl"/>
          <p:cNvSpPr txBox="1"/>
          <p:nvPr/>
        </p:nvSpPr>
        <p:spPr>
          <a:xfrm>
            <a:off x="548640" y="15727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Net segment assets, FY2026 year-end  (₹ crore)</a:t>
            </a:r>
            <a:endParaRPr lang="en-US" sz="1200" dirty="0"/>
          </a:p>
        </p:txBody>
      </p:sp>
      <p:graphicFrame>
        <p:nvGraphicFramePr>
          <p:cNvPr id="5" name="chart_nsa" descr=""/>
          <p:cNvGraphicFramePr/>
          <p:nvPr/>
        </p:nvGraphicFramePr>
        <p:xfrm>
          <a:off x="548640" y="1828800"/>
          <a:ext cx="57607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r_lbl"/>
          <p:cNvSpPr txBox="1"/>
          <p:nvPr/>
        </p:nvSpPr>
        <p:spPr>
          <a:xfrm>
            <a:off x="6583680" y="1572768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Share of segment results vs share of net segment assets  (%)</a:t>
            </a:r>
            <a:endParaRPr lang="en-US" sz="1200" dirty="0"/>
          </a:p>
        </p:txBody>
      </p:sp>
      <p:graphicFrame>
        <p:nvGraphicFramePr>
          <p:cNvPr id="7" name="chart_share" descr=""/>
          <p:cNvGraphicFramePr/>
          <p:nvPr/>
        </p:nvGraphicFramePr>
        <p:xfrm>
          <a:off x="6583680" y="1828800"/>
          <a:ext cx="505663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in_bg0"/>
          <p:cNvSpPr/>
          <p:nvPr/>
        </p:nvSpPr>
        <p:spPr>
          <a:xfrm>
            <a:off x="548640" y="4681728"/>
            <a:ext cx="3575304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9" name="in_i0_c"/>
          <p:cNvSpPr/>
          <p:nvPr/>
        </p:nvSpPr>
        <p:spPr>
          <a:xfrm>
            <a:off x="685800" y="48646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n_i0_i" descr="in_i0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4978908"/>
            <a:ext cx="228600" cy="228600"/>
          </a:xfrm>
          <a:prstGeom prst="rect">
            <a:avLst/>
          </a:prstGeom>
        </p:spPr>
      </p:pic>
      <p:sp>
        <p:nvSpPr>
          <p:cNvPr id="11" name="in_t0"/>
          <p:cNvSpPr txBox="1"/>
          <p:nvPr/>
        </p:nvSpPr>
        <p:spPr>
          <a:xfrm>
            <a:off x="1280160" y="468172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Cigarettes is the dominant operating-profit contributor.</a:t>
            </a:r>
            <a:endParaRPr lang="en-US" sz="1200" dirty="0"/>
          </a:p>
        </p:txBody>
      </p:sp>
      <p:sp>
        <p:nvSpPr>
          <p:cNvPr id="12" name="in_bg1"/>
          <p:cNvSpPr/>
          <p:nvPr/>
        </p:nvSpPr>
        <p:spPr>
          <a:xfrm>
            <a:off x="4306824" y="4681728"/>
            <a:ext cx="3575304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3" name="in_i1_c"/>
          <p:cNvSpPr/>
          <p:nvPr/>
        </p:nvSpPr>
        <p:spPr>
          <a:xfrm>
            <a:off x="4443984" y="4864608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4" name="in_i1_i" descr="in_i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8284" y="4978908"/>
            <a:ext cx="228600" cy="228600"/>
          </a:xfrm>
          <a:prstGeom prst="rect">
            <a:avLst/>
          </a:prstGeom>
        </p:spPr>
      </p:pic>
      <p:sp>
        <p:nvSpPr>
          <p:cNvPr id="15" name="in_t1"/>
          <p:cNvSpPr txBox="1"/>
          <p:nvPr/>
        </p:nvSpPr>
        <p:spPr>
          <a:xfrm>
            <a:off x="5038344" y="468172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FMCG–Others has the largest net segment asset base and the largest segment capex allocation.</a:t>
            </a:r>
            <a:endParaRPr lang="en-US" sz="1200" dirty="0"/>
          </a:p>
        </p:txBody>
      </p:sp>
      <p:sp>
        <p:nvSpPr>
          <p:cNvPr id="16" name="in_bg2"/>
          <p:cNvSpPr/>
          <p:nvPr/>
        </p:nvSpPr>
        <p:spPr>
          <a:xfrm>
            <a:off x="8065008" y="4681728"/>
            <a:ext cx="3575304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7" name="in_i2_c"/>
          <p:cNvSpPr/>
          <p:nvPr/>
        </p:nvSpPr>
        <p:spPr>
          <a:xfrm>
            <a:off x="8202168" y="4864608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8" name="in_i2_i" descr="in_i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6468" y="4978908"/>
            <a:ext cx="228600" cy="228600"/>
          </a:xfrm>
          <a:prstGeom prst="rect">
            <a:avLst/>
          </a:prstGeom>
        </p:spPr>
      </p:pic>
      <p:sp>
        <p:nvSpPr>
          <p:cNvPr id="19" name="in_t2"/>
          <p:cNvSpPr txBox="1"/>
          <p:nvPr/>
        </p:nvSpPr>
        <p:spPr>
          <a:xfrm>
            <a:off x="8796528" y="468172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Paperboards, Paper &amp; Packaging delivered lower segment results in FY2026 despite higher reported revenue.</a:t>
            </a:r>
            <a:endParaRPr lang="en-US" sz="1200" dirty="0"/>
          </a:p>
        </p:txBody>
      </p:sp>
      <p:sp>
        <p:nvSpPr>
          <p:cNvPr id="20" name="take_bg"/>
          <p:cNvSpPr/>
          <p:nvPr/>
        </p:nvSpPr>
        <p:spPr>
          <a:xfrm>
            <a:off x="548640" y="5596128"/>
            <a:ext cx="11091672" cy="475488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/>
        </p:spPr>
      </p:sp>
      <p:sp>
        <p:nvSpPr>
          <p:cNvPr id="21" name="take_lbl"/>
          <p:cNvSpPr txBox="1"/>
          <p:nvPr/>
        </p:nvSpPr>
        <p:spPr>
          <a:xfrm>
            <a:off x="777240" y="559612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SO WHAT</a:t>
            </a:r>
            <a:endParaRPr lang="en-US" sz="1100" dirty="0"/>
          </a:p>
        </p:txBody>
      </p:sp>
      <p:sp>
        <p:nvSpPr>
          <p:cNvPr id="22" name="take_txt"/>
          <p:cNvSpPr txBox="1"/>
          <p:nvPr/>
        </p:nvSpPr>
        <p:spPr>
          <a:xfrm>
            <a:off x="1783080" y="5596128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The best business to reinvest in is not necessarily the one that generates the most profit — the decisive test is the return earned on additional capital.</a:t>
            </a:r>
            <a:endParaRPr lang="en-US" sz="1400" dirty="0"/>
          </a:p>
        </p:txBody>
      </p:sp>
      <p:sp>
        <p:nvSpPr>
          <p:cNvPr id="23" name="foot"/>
          <p:cNvSpPr txBox="1"/>
          <p:nvPr/>
        </p:nvSpPr>
        <p:spPr>
          <a:xfrm>
            <a:off x="548640" y="612648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Source: ITC FY2026 consolidated segment reporting; net segment assets = segment assets − segment liabilities (our calculation). Shares in the right chart are derived from the figures shown. Net segment assets are not invested capital, and segment results ÷ net assets is not segment ROCE. Five-year trends, cash flow and working capital to follow from the historical model.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glitter pattern="hexagon"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nodeType="withEffect">
                                  <p:stCondLst>
                                    <p:cond delay="30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30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39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06  ·  INVESTMENT THESIS &amp; CATALYSTS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What is the market missing about ITC?</a:t>
            </a:r>
            <a:endParaRPr lang="en-US" sz="2800" dirty="0"/>
          </a:p>
        </p:txBody>
      </p:sp>
      <p:sp>
        <p:nvSpPr>
          <p:cNvPr id="4" name="pend"/>
          <p:cNvSpPr txBox="1"/>
          <p:nvPr/>
        </p:nvSpPr>
        <p:spPr>
          <a:xfrm>
            <a:off x="9326880" y="256032"/>
            <a:ext cx="2313432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FINAL THESIS PENDING MODEL</a:t>
            </a:r>
            <a:endParaRPr lang="en-US" sz="1000" dirty="0"/>
          </a:p>
        </p:txBody>
      </p:sp>
      <p:sp>
        <p:nvSpPr>
          <p:cNvPr id="5" name="hyp_bg"/>
          <p:cNvSpPr/>
          <p:nvPr/>
        </p:nvSpPr>
        <p:spPr>
          <a:xfrm>
            <a:off x="548640" y="1600200"/>
            <a:ext cx="1109167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6" name="hyp_i_c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hyp_i_i" descr="hyp_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943100"/>
            <a:ext cx="228600" cy="228600"/>
          </a:xfrm>
          <a:prstGeom prst="rect">
            <a:avLst/>
          </a:prstGeom>
        </p:spPr>
      </p:pic>
      <p:sp>
        <p:nvSpPr>
          <p:cNvPr id="8" name="hyp_t"/>
          <p:cNvSpPr txBox="1"/>
          <p:nvPr/>
        </p:nvSpPr>
        <p:spPr>
          <a:xfrm>
            <a:off x="1463040" y="160020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CADCFC"/>
                </a:solidFill>
              </a:rPr>
              <a:t>RESEARCH HYPOTHESIS — NOT YET OUR THESIS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Can FMCG–Others progressively increase its contribution to operating profits while cigarettes remains the dominant profit engine?</a:t>
            </a:r>
            <a:endParaRPr lang="en-US" sz="1050" dirty="0"/>
          </a:p>
        </p:txBody>
      </p:sp>
      <p:sp>
        <p:nvSpPr>
          <p:cNvPr id="9" name="ev_lbl"/>
          <p:cNvSpPr txBox="1"/>
          <p:nvPr/>
        </p:nvSpPr>
        <p:spPr>
          <a:xfrm>
            <a:off x="54864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EVIDENCE SO FAR  (FY2026, consolidated)</a:t>
            </a:r>
            <a:endParaRPr lang="en-US" sz="1200" dirty="0"/>
          </a:p>
        </p:txBody>
      </p:sp>
      <p:sp>
        <p:nvSpPr>
          <p:cNvPr id="10" name="ev_bg0"/>
          <p:cNvSpPr/>
          <p:nvPr/>
        </p:nvSpPr>
        <p:spPr>
          <a:xfrm>
            <a:off x="548640" y="2999232"/>
            <a:ext cx="3575304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1" name="ev_v0"/>
          <p:cNvSpPr txBox="1"/>
          <p:nvPr/>
        </p:nvSpPr>
        <p:spPr>
          <a:xfrm>
            <a:off x="731520" y="30175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6.7%</a:t>
            </a:r>
            <a:endParaRPr lang="en-US" sz="2800" dirty="0"/>
          </a:p>
        </p:txBody>
      </p:sp>
      <p:sp>
        <p:nvSpPr>
          <p:cNvPr id="12" name="ev_l0"/>
          <p:cNvSpPr txBox="1"/>
          <p:nvPr/>
        </p:nvSpPr>
        <p:spPr>
          <a:xfrm>
            <a:off x="2377440" y="30175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FMCG–Others share of reported segment results</a:t>
            </a:r>
            <a:endParaRPr lang="en-US" sz="1100" dirty="0"/>
          </a:p>
        </p:txBody>
      </p:sp>
      <p:sp>
        <p:nvSpPr>
          <p:cNvPr id="13" name="ev_bg1"/>
          <p:cNvSpPr/>
          <p:nvPr/>
        </p:nvSpPr>
        <p:spPr>
          <a:xfrm>
            <a:off x="4306824" y="2999232"/>
            <a:ext cx="3575304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4" name="ev_v1"/>
          <p:cNvSpPr txBox="1"/>
          <p:nvPr/>
        </p:nvSpPr>
        <p:spPr>
          <a:xfrm>
            <a:off x="4489704" y="30175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+13.9%</a:t>
            </a:r>
            <a:endParaRPr lang="en-US" sz="2800" dirty="0"/>
          </a:p>
        </p:txBody>
      </p:sp>
      <p:sp>
        <p:nvSpPr>
          <p:cNvPr id="15" name="ev_l1"/>
          <p:cNvSpPr txBox="1"/>
          <p:nvPr/>
        </p:nvSpPr>
        <p:spPr>
          <a:xfrm>
            <a:off x="6135624" y="30175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FMCG–Others segment results growth YoY</a:t>
            </a:r>
            <a:endParaRPr lang="en-US" sz="1100" dirty="0"/>
          </a:p>
        </p:txBody>
      </p:sp>
      <p:sp>
        <p:nvSpPr>
          <p:cNvPr id="16" name="ev_bg2"/>
          <p:cNvSpPr/>
          <p:nvPr/>
        </p:nvSpPr>
        <p:spPr>
          <a:xfrm>
            <a:off x="8065008" y="2999232"/>
            <a:ext cx="3575304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7" name="ev_v2"/>
          <p:cNvSpPr txBox="1"/>
          <p:nvPr/>
        </p:nvSpPr>
        <p:spPr>
          <a:xfrm>
            <a:off x="8247888" y="30175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₹970 cr</a:t>
            </a:r>
            <a:endParaRPr lang="en-US" sz="2800" dirty="0"/>
          </a:p>
        </p:txBody>
      </p:sp>
      <p:sp>
        <p:nvSpPr>
          <p:cNvPr id="18" name="ev_l2"/>
          <p:cNvSpPr txBox="1"/>
          <p:nvPr/>
        </p:nvSpPr>
        <p:spPr>
          <a:xfrm>
            <a:off x="9893808" y="30175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FMCG–Others capex — largest of any segment</a:t>
            </a:r>
            <a:endParaRPr lang="en-US" sz="1100" dirty="0"/>
          </a:p>
        </p:txBody>
      </p:sp>
      <p:sp>
        <p:nvSpPr>
          <p:cNvPr id="19" name="bl_bg0"/>
          <p:cNvSpPr/>
          <p:nvPr/>
        </p:nvSpPr>
        <p:spPr>
          <a:xfrm>
            <a:off x="548640" y="41605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875">
            <a:solidFill>
              <a:srgbClr val="B8C0CC"/>
            </a:solidFill>
            <a:prstDash val="dash"/>
          </a:ln>
        </p:spPr>
      </p:sp>
      <p:sp>
        <p:nvSpPr>
          <p:cNvPr id="20" name="bl_i0_c"/>
          <p:cNvSpPr/>
          <p:nvPr/>
        </p:nvSpPr>
        <p:spPr>
          <a:xfrm>
            <a:off x="731520" y="4325112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1" name="bl_i0_i" descr="bl_i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4439412"/>
            <a:ext cx="228600" cy="228600"/>
          </a:xfrm>
          <a:prstGeom prst="rect">
            <a:avLst/>
          </a:prstGeom>
        </p:spPr>
      </p:pic>
      <p:sp>
        <p:nvSpPr>
          <p:cNvPr id="22" name="bl_t0"/>
          <p:cNvSpPr txBox="1"/>
          <p:nvPr/>
        </p:nvSpPr>
        <p:spPr>
          <a:xfrm>
            <a:off x="1325880" y="43251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Market misconception</a:t>
            </a:r>
            <a:endParaRPr lang="en-US" sz="1400" dirty="0"/>
          </a:p>
        </p:txBody>
      </p:sp>
      <p:sp>
        <p:nvSpPr>
          <p:cNvPr id="23" name="bl_d0"/>
          <p:cNvSpPr txBox="1"/>
          <p:nvPr/>
        </p:nvSpPr>
        <p:spPr>
          <a:xfrm>
            <a:off x="731520" y="4937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If supported by evidence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chemeClr val="accent3"/>
                </a:solidFill>
              </a:rPr>
              <a:t>Pending forecasts and valuation</a:t>
            </a:r>
            <a:endParaRPr lang="en-US" sz="1200" dirty="0"/>
          </a:p>
        </p:txBody>
      </p:sp>
      <p:sp>
        <p:nvSpPr>
          <p:cNvPr id="24" name="bl_bg1"/>
          <p:cNvSpPr/>
          <p:nvPr/>
        </p:nvSpPr>
        <p:spPr>
          <a:xfrm>
            <a:off x="3362249" y="41605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875">
            <a:solidFill>
              <a:srgbClr val="B8C0CC"/>
            </a:solidFill>
            <a:prstDash val="dash"/>
          </a:ln>
        </p:spPr>
      </p:sp>
      <p:sp>
        <p:nvSpPr>
          <p:cNvPr id="25" name="bl_i1_c"/>
          <p:cNvSpPr/>
          <p:nvPr/>
        </p:nvSpPr>
        <p:spPr>
          <a:xfrm>
            <a:off x="3545129" y="4325112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6" name="bl_i1_i" descr="bl_i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429" y="4439412"/>
            <a:ext cx="228600" cy="228600"/>
          </a:xfrm>
          <a:prstGeom prst="rect">
            <a:avLst/>
          </a:prstGeom>
        </p:spPr>
      </p:pic>
      <p:sp>
        <p:nvSpPr>
          <p:cNvPr id="27" name="bl_t1"/>
          <p:cNvSpPr txBox="1"/>
          <p:nvPr/>
        </p:nvSpPr>
        <p:spPr>
          <a:xfrm>
            <a:off x="4139489" y="43251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What underpins our view</a:t>
            </a:r>
            <a:endParaRPr lang="en-US" sz="1400" dirty="0"/>
          </a:p>
        </p:txBody>
      </p:sp>
      <p:sp>
        <p:nvSpPr>
          <p:cNvPr id="28" name="bl_d1"/>
          <p:cNvSpPr txBox="1"/>
          <p:nvPr/>
        </p:nvSpPr>
        <p:spPr>
          <a:xfrm>
            <a:off x="3545129" y="4937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Two or three financial / operational developments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chemeClr val="accent3"/>
                </a:solidFill>
              </a:rPr>
              <a:t>Pending forecasts and valuation</a:t>
            </a:r>
            <a:endParaRPr lang="en-US" sz="1200" dirty="0"/>
          </a:p>
        </p:txBody>
      </p:sp>
      <p:sp>
        <p:nvSpPr>
          <p:cNvPr id="29" name="bl_bg2"/>
          <p:cNvSpPr/>
          <p:nvPr/>
        </p:nvSpPr>
        <p:spPr>
          <a:xfrm>
            <a:off x="6175858" y="41605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875">
            <a:solidFill>
              <a:srgbClr val="B8C0CC"/>
            </a:solidFill>
            <a:prstDash val="dash"/>
          </a:ln>
        </p:spPr>
      </p:sp>
      <p:sp>
        <p:nvSpPr>
          <p:cNvPr id="30" name="bl_i2_c"/>
          <p:cNvSpPr/>
          <p:nvPr/>
        </p:nvSpPr>
        <p:spPr>
          <a:xfrm>
            <a:off x="6358738" y="4325112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1" name="bl_i2_i" descr="bl_i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038" y="4439412"/>
            <a:ext cx="228600" cy="228600"/>
          </a:xfrm>
          <a:prstGeom prst="rect">
            <a:avLst/>
          </a:prstGeom>
        </p:spPr>
      </p:pic>
      <p:sp>
        <p:nvSpPr>
          <p:cNvPr id="32" name="bl_t2"/>
          <p:cNvSpPr txBox="1"/>
          <p:nvPr/>
        </p:nvSpPr>
        <p:spPr>
          <a:xfrm>
            <a:off x="6953098" y="43251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Measurable catalysts</a:t>
            </a:r>
            <a:endParaRPr lang="en-US" sz="1400" dirty="0"/>
          </a:p>
        </p:txBody>
      </p:sp>
      <p:sp>
        <p:nvSpPr>
          <p:cNvPr id="33" name="bl_d2"/>
          <p:cNvSpPr txBox="1"/>
          <p:nvPr/>
        </p:nvSpPr>
        <p:spPr>
          <a:xfrm>
            <a:off x="6358738" y="4937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With expected timing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chemeClr val="accent3"/>
                </a:solidFill>
              </a:rPr>
              <a:t>Pending forecasts and valuation</a:t>
            </a:r>
            <a:endParaRPr lang="en-US" sz="1200" dirty="0"/>
          </a:p>
        </p:txBody>
      </p:sp>
      <p:sp>
        <p:nvSpPr>
          <p:cNvPr id="34" name="bl_bg3"/>
          <p:cNvSpPr/>
          <p:nvPr/>
        </p:nvSpPr>
        <p:spPr>
          <a:xfrm>
            <a:off x="8989466" y="41605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875">
            <a:solidFill>
              <a:srgbClr val="B8C0CC"/>
            </a:solidFill>
            <a:prstDash val="dash"/>
          </a:ln>
        </p:spPr>
      </p:sp>
      <p:sp>
        <p:nvSpPr>
          <p:cNvPr id="35" name="bl_i3_c"/>
          <p:cNvSpPr/>
          <p:nvPr/>
        </p:nvSpPr>
        <p:spPr>
          <a:xfrm>
            <a:off x="9172346" y="43251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bl_i3_i" descr="bl_i3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6646" y="4439412"/>
            <a:ext cx="228600" cy="228600"/>
          </a:xfrm>
          <a:prstGeom prst="rect">
            <a:avLst/>
          </a:prstGeom>
        </p:spPr>
      </p:pic>
      <p:sp>
        <p:nvSpPr>
          <p:cNvPr id="37" name="bl_t3"/>
          <p:cNvSpPr txBox="1"/>
          <p:nvPr/>
        </p:nvSpPr>
        <p:spPr>
          <a:xfrm>
            <a:off x="9766706" y="43251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What would invalidate it</a:t>
            </a:r>
            <a:endParaRPr lang="en-US" sz="1400" dirty="0"/>
          </a:p>
        </p:txBody>
      </p:sp>
      <p:sp>
        <p:nvSpPr>
          <p:cNvPr id="38" name="bl_d3"/>
          <p:cNvSpPr txBox="1"/>
          <p:nvPr/>
        </p:nvSpPr>
        <p:spPr>
          <a:xfrm>
            <a:off x="9172346" y="4937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The evidence that proves us wrong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chemeClr val="accent3"/>
                </a:solidFill>
              </a:rPr>
              <a:t>Pending forecasts and valuation</a:t>
            </a:r>
            <a:endParaRPr lang="en-US" sz="1200" dirty="0"/>
          </a:p>
        </p:txBody>
      </p:sp>
      <p:sp>
        <p:nvSpPr>
          <p:cNvPr id="39" name="foot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Evidence so far: ITC audited consolidated segment results FY2026 and ITC Report &amp; Accounts 2026 (see slide 3). The hypothesis is a research question, not a conclusion.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split orient="vert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fill="hold" nodeType="withEffect">
                                  <p:stCondLst>
                                    <p:cond delay="28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29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nodeType="withEffect">
                                  <p:stCondLst>
                                    <p:cond delay="297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nodeType="withEffect">
                                  <p:stCondLst>
                                    <p:cond delay="297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nodeType="withEffect">
                                  <p:stCondLst>
                                    <p:cond delay="30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307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317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nodeType="withEffect">
                                  <p:stCondLst>
                                    <p:cond delay="319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nodeType="withEffect">
                                  <p:stCondLst>
                                    <p:cond delay="319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nodeType="withEffect">
                                  <p:stCondLst>
                                    <p:cond delay="32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329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339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nodeType="withEffect">
                                  <p:stCondLst>
                                    <p:cond delay="341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3" presetClass="entr" presetSubtype="16" fill="hold" nodeType="withEffect">
                                  <p:stCondLst>
                                    <p:cond delay="341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351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361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07  ·  VALUATION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What is ITC Limited worth after accounting for its operating businesses and investments?</a:t>
            </a:r>
            <a:endParaRPr lang="en-US" sz="2800" dirty="0"/>
          </a:p>
        </p:txBody>
      </p:sp>
      <p:sp>
        <p:nvSpPr>
          <p:cNvPr id="4" name="pend"/>
          <p:cNvSpPr txBox="1"/>
          <p:nvPr/>
        </p:nvSpPr>
        <p:spPr>
          <a:xfrm>
            <a:off x="9509760" y="256032"/>
            <a:ext cx="2130552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OUTPUTS PENDING MODEL</a:t>
            </a:r>
            <a:endParaRPr lang="en-US" sz="1000" dirty="0"/>
          </a:p>
        </p:txBody>
      </p:sp>
      <p:sp>
        <p:nvSpPr>
          <p:cNvPr id="5" name="ly_bg0"/>
          <p:cNvSpPr/>
          <p:nvPr/>
        </p:nvSpPr>
        <p:spPr>
          <a:xfrm>
            <a:off x="548640" y="1627632"/>
            <a:ext cx="251460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6" name="ly_i0_c"/>
          <p:cNvSpPr/>
          <p:nvPr/>
        </p:nvSpPr>
        <p:spPr>
          <a:xfrm>
            <a:off x="731520" y="1810512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ly_i0_i" descr="ly_i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924812"/>
            <a:ext cx="228600" cy="228600"/>
          </a:xfrm>
          <a:prstGeom prst="rect">
            <a:avLst/>
          </a:prstGeom>
        </p:spPr>
      </p:pic>
      <p:sp>
        <p:nvSpPr>
          <p:cNvPr id="8" name="ly_l0"/>
          <p:cNvSpPr txBox="1"/>
          <p:nvPr/>
        </p:nvSpPr>
        <p:spPr>
          <a:xfrm>
            <a:off x="1325880" y="182880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LAYER 1</a:t>
            </a:r>
            <a:endParaRPr lang="en-US" sz="1100" dirty="0"/>
          </a:p>
        </p:txBody>
      </p:sp>
      <p:sp>
        <p:nvSpPr>
          <p:cNvPr id="9" name="ly_t0"/>
          <p:cNvSpPr txBox="1"/>
          <p:nvPr/>
        </p:nvSpPr>
        <p:spPr>
          <a:xfrm>
            <a:off x="731520" y="240487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Operating businesses</a:t>
            </a:r>
            <a:endParaRPr lang="en-US" sz="1500" dirty="0"/>
          </a:p>
        </p:txBody>
      </p:sp>
      <p:sp>
        <p:nvSpPr>
          <p:cNvPr id="10" name="ly_d0"/>
          <p:cNvSpPr txBox="1"/>
          <p:nvPr/>
        </p:nvSpPr>
        <p:spPr>
          <a:xfrm>
            <a:off x="731520" y="290779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Continuing businesses valued by DCF, relative valuation or another suitable method</a:t>
            </a:r>
            <a:endParaRPr lang="en-US" sz="1200" dirty="0"/>
          </a:p>
        </p:txBody>
      </p:sp>
      <p:sp>
        <p:nvSpPr>
          <p:cNvPr id="11" name="ar0"/>
          <p:cNvSpPr txBox="1"/>
          <p:nvPr/>
        </p:nvSpPr>
        <p:spPr>
          <a:xfrm>
            <a:off x="3063240" y="2496312"/>
            <a:ext cx="3447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+</a:t>
            </a:r>
            <a:endParaRPr lang="en-US" sz="2400" dirty="0"/>
          </a:p>
        </p:txBody>
      </p:sp>
      <p:sp>
        <p:nvSpPr>
          <p:cNvPr id="12" name="ly_bg1"/>
          <p:cNvSpPr/>
          <p:nvPr/>
        </p:nvSpPr>
        <p:spPr>
          <a:xfrm>
            <a:off x="3407969" y="1627632"/>
            <a:ext cx="251460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3" name="ly_i1_c"/>
          <p:cNvSpPr/>
          <p:nvPr/>
        </p:nvSpPr>
        <p:spPr>
          <a:xfrm>
            <a:off x="3590849" y="1810512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4" name="ly_i1_i" descr="ly_i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149" y="1924812"/>
            <a:ext cx="228600" cy="228600"/>
          </a:xfrm>
          <a:prstGeom prst="rect">
            <a:avLst/>
          </a:prstGeom>
        </p:spPr>
      </p:pic>
      <p:sp>
        <p:nvSpPr>
          <p:cNvPr id="15" name="ly_l1"/>
          <p:cNvSpPr txBox="1"/>
          <p:nvPr/>
        </p:nvSpPr>
        <p:spPr>
          <a:xfrm>
            <a:off x="4185209" y="182880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LAYER 2</a:t>
            </a:r>
            <a:endParaRPr lang="en-US" sz="1100" dirty="0"/>
          </a:p>
        </p:txBody>
      </p:sp>
      <p:sp>
        <p:nvSpPr>
          <p:cNvPr id="16" name="ly_t1"/>
          <p:cNvSpPr txBox="1"/>
          <p:nvPr/>
        </p:nvSpPr>
        <p:spPr>
          <a:xfrm>
            <a:off x="3590849" y="240487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Separately valued investments</a:t>
            </a:r>
            <a:endParaRPr lang="en-US" sz="1500" dirty="0"/>
          </a:p>
        </p:txBody>
      </p:sp>
      <p:sp>
        <p:nvSpPr>
          <p:cNvPr id="17" name="ly_d1"/>
          <p:cNvSpPr txBox="1"/>
          <p:nvPr/>
        </p:nvSpPr>
        <p:spPr>
          <a:xfrm>
            <a:off x="3590849" y="290779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ITC Hotels stake (~40%) and other material non-operating investments not already included</a:t>
            </a:r>
            <a:endParaRPr lang="en-US" sz="1200" dirty="0"/>
          </a:p>
        </p:txBody>
      </p:sp>
      <p:sp>
        <p:nvSpPr>
          <p:cNvPr id="18" name="ar1"/>
          <p:cNvSpPr txBox="1"/>
          <p:nvPr/>
        </p:nvSpPr>
        <p:spPr>
          <a:xfrm>
            <a:off x="5922569" y="2496312"/>
            <a:ext cx="3447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ly_bg2"/>
          <p:cNvSpPr/>
          <p:nvPr/>
        </p:nvSpPr>
        <p:spPr>
          <a:xfrm>
            <a:off x="6267298" y="1627632"/>
            <a:ext cx="251460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20" name="ly_i2_c"/>
          <p:cNvSpPr/>
          <p:nvPr/>
        </p:nvSpPr>
        <p:spPr>
          <a:xfrm>
            <a:off x="6450178" y="1810512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1" name="ly_i2_i" descr="ly_i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478" y="1924812"/>
            <a:ext cx="228600" cy="228600"/>
          </a:xfrm>
          <a:prstGeom prst="rect">
            <a:avLst/>
          </a:prstGeom>
        </p:spPr>
      </p:pic>
      <p:sp>
        <p:nvSpPr>
          <p:cNvPr id="22" name="ly_l2"/>
          <p:cNvSpPr txBox="1"/>
          <p:nvPr/>
        </p:nvSpPr>
        <p:spPr>
          <a:xfrm>
            <a:off x="7044538" y="182880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LAYER 3</a:t>
            </a:r>
            <a:endParaRPr lang="en-US" sz="1100" dirty="0"/>
          </a:p>
        </p:txBody>
      </p:sp>
      <p:sp>
        <p:nvSpPr>
          <p:cNvPr id="23" name="ly_t2"/>
          <p:cNvSpPr txBox="1"/>
          <p:nvPr/>
        </p:nvSpPr>
        <p:spPr>
          <a:xfrm>
            <a:off x="6450178" y="240487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Equity-value reconciliation</a:t>
            </a:r>
            <a:endParaRPr lang="en-US" sz="1500" dirty="0"/>
          </a:p>
        </p:txBody>
      </p:sp>
      <p:sp>
        <p:nvSpPr>
          <p:cNvPr id="24" name="ly_d2"/>
          <p:cNvSpPr txBox="1"/>
          <p:nvPr/>
        </p:nvSpPr>
        <p:spPr>
          <a:xfrm>
            <a:off x="6450178" y="290779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Less debt, corporate costs and other adjustments; ownership interests; no double-counting</a:t>
            </a:r>
            <a:endParaRPr lang="en-US" sz="1200" dirty="0"/>
          </a:p>
        </p:txBody>
      </p:sp>
      <p:sp>
        <p:nvSpPr>
          <p:cNvPr id="25" name="ar2"/>
          <p:cNvSpPr txBox="1"/>
          <p:nvPr/>
        </p:nvSpPr>
        <p:spPr>
          <a:xfrm>
            <a:off x="8781898" y="2496312"/>
            <a:ext cx="3447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26" name="ly_bg3"/>
          <p:cNvSpPr/>
          <p:nvPr/>
        </p:nvSpPr>
        <p:spPr>
          <a:xfrm>
            <a:off x="9126626" y="1627632"/>
            <a:ext cx="2514600" cy="22860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27" name="ly_i3_c"/>
          <p:cNvSpPr/>
          <p:nvPr/>
        </p:nvSpPr>
        <p:spPr>
          <a:xfrm>
            <a:off x="9309506" y="18105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ly_i3_i" descr="ly_i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3806" y="1924812"/>
            <a:ext cx="228600" cy="228600"/>
          </a:xfrm>
          <a:prstGeom prst="rect">
            <a:avLst/>
          </a:prstGeom>
        </p:spPr>
      </p:pic>
      <p:sp>
        <p:nvSpPr>
          <p:cNvPr id="29" name="ly_l3"/>
          <p:cNvSpPr txBox="1"/>
          <p:nvPr/>
        </p:nvSpPr>
        <p:spPr>
          <a:xfrm>
            <a:off x="9903866" y="182880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</a:rPr>
              <a:t>RESULT</a:t>
            </a:r>
            <a:endParaRPr lang="en-US" sz="1100" dirty="0"/>
          </a:p>
        </p:txBody>
      </p:sp>
      <p:sp>
        <p:nvSpPr>
          <p:cNvPr id="30" name="ly_t3"/>
          <p:cNvSpPr txBox="1"/>
          <p:nvPr/>
        </p:nvSpPr>
        <p:spPr>
          <a:xfrm>
            <a:off x="9309506" y="240487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Equity value per share</a:t>
            </a:r>
            <a:endParaRPr lang="en-US" sz="1500" dirty="0"/>
          </a:p>
        </p:txBody>
      </p:sp>
      <p:sp>
        <p:nvSpPr>
          <p:cNvPr id="31" name="ly_d3"/>
          <p:cNvSpPr txBox="1"/>
          <p:nvPr/>
        </p:nvSpPr>
        <p:spPr>
          <a:xfrm>
            <a:off x="9309506" y="286207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₹ ——</a:t>
            </a:r>
            <a:endParaRPr lang="en-US" sz="4800" dirty="0"/>
          </a:p>
        </p:txBody>
      </p:sp>
      <p:sp>
        <p:nvSpPr>
          <p:cNvPr id="32" name="out_lbl"/>
          <p:cNvSpPr txBox="1"/>
          <p:nvPr/>
        </p:nvSpPr>
        <p:spPr>
          <a:xfrm>
            <a:off x="54864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FINAL VALUATION OUTPUTS</a:t>
            </a:r>
            <a:endParaRPr lang="en-US" sz="1200" dirty="0"/>
          </a:p>
        </p:txBody>
      </p:sp>
      <p:sp>
        <p:nvSpPr>
          <p:cNvPr id="33" name="ou_bg0"/>
          <p:cNvSpPr/>
          <p:nvPr/>
        </p:nvSpPr>
        <p:spPr>
          <a:xfrm>
            <a:off x="548640" y="4389120"/>
            <a:ext cx="1737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34" name="ou_v0"/>
          <p:cNvSpPr txBox="1"/>
          <p:nvPr/>
        </p:nvSpPr>
        <p:spPr>
          <a:xfrm>
            <a:off x="548640" y="4434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—</a:t>
            </a:r>
            <a:endParaRPr lang="en-US" sz="2600" dirty="0"/>
          </a:p>
        </p:txBody>
      </p:sp>
      <p:sp>
        <p:nvSpPr>
          <p:cNvPr id="35" name="ou_l0"/>
          <p:cNvSpPr txBox="1"/>
          <p:nvPr/>
        </p:nvSpPr>
        <p:spPr>
          <a:xfrm>
            <a:off x="640080" y="4892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DCF fair value / share</a:t>
            </a:r>
            <a:endParaRPr lang="en-US" sz="1050" dirty="0"/>
          </a:p>
        </p:txBody>
      </p:sp>
      <p:sp>
        <p:nvSpPr>
          <p:cNvPr id="36" name="ou_bg1"/>
          <p:cNvSpPr/>
          <p:nvPr/>
        </p:nvSpPr>
        <p:spPr>
          <a:xfrm>
            <a:off x="2419502" y="4389120"/>
            <a:ext cx="1737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37" name="ou_v1"/>
          <p:cNvSpPr txBox="1"/>
          <p:nvPr/>
        </p:nvSpPr>
        <p:spPr>
          <a:xfrm>
            <a:off x="2419502" y="4434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—</a:t>
            </a:r>
            <a:endParaRPr lang="en-US" sz="2600" dirty="0"/>
          </a:p>
        </p:txBody>
      </p:sp>
      <p:sp>
        <p:nvSpPr>
          <p:cNvPr id="38" name="ou_l1"/>
          <p:cNvSpPr txBox="1"/>
          <p:nvPr/>
        </p:nvSpPr>
        <p:spPr>
          <a:xfrm>
            <a:off x="2510942" y="4892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Relative-valuation cross-check</a:t>
            </a:r>
            <a:endParaRPr lang="en-US" sz="1050" dirty="0"/>
          </a:p>
        </p:txBody>
      </p:sp>
      <p:sp>
        <p:nvSpPr>
          <p:cNvPr id="39" name="ou_bg2"/>
          <p:cNvSpPr/>
          <p:nvPr/>
        </p:nvSpPr>
        <p:spPr>
          <a:xfrm>
            <a:off x="4290365" y="4389120"/>
            <a:ext cx="1737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40" name="ou_v2"/>
          <p:cNvSpPr txBox="1"/>
          <p:nvPr/>
        </p:nvSpPr>
        <p:spPr>
          <a:xfrm>
            <a:off x="4290365" y="4434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—</a:t>
            </a:r>
            <a:endParaRPr lang="en-US" sz="2600" dirty="0"/>
          </a:p>
        </p:txBody>
      </p:sp>
      <p:sp>
        <p:nvSpPr>
          <p:cNvPr id="41" name="ou_l2"/>
          <p:cNvSpPr txBox="1"/>
          <p:nvPr/>
        </p:nvSpPr>
        <p:spPr>
          <a:xfrm>
            <a:off x="4381805" y="4892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SOTP valuation</a:t>
            </a:r>
            <a:endParaRPr lang="en-US" sz="1050" dirty="0"/>
          </a:p>
        </p:txBody>
      </p:sp>
      <p:sp>
        <p:nvSpPr>
          <p:cNvPr id="42" name="ou_bg3"/>
          <p:cNvSpPr/>
          <p:nvPr/>
        </p:nvSpPr>
        <p:spPr>
          <a:xfrm>
            <a:off x="6161227" y="4389120"/>
            <a:ext cx="1737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43" name="ou_v3"/>
          <p:cNvSpPr txBox="1"/>
          <p:nvPr/>
        </p:nvSpPr>
        <p:spPr>
          <a:xfrm>
            <a:off x="6161227" y="4434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—</a:t>
            </a:r>
            <a:endParaRPr lang="en-US" sz="2600" dirty="0"/>
          </a:p>
        </p:txBody>
      </p:sp>
      <p:sp>
        <p:nvSpPr>
          <p:cNvPr id="44" name="ou_l3"/>
          <p:cNvSpPr txBox="1"/>
          <p:nvPr/>
        </p:nvSpPr>
        <p:spPr>
          <a:xfrm>
            <a:off x="6252667" y="4892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Market price on valuation date</a:t>
            </a:r>
            <a:endParaRPr lang="en-US" sz="1050" dirty="0"/>
          </a:p>
        </p:txBody>
      </p:sp>
      <p:sp>
        <p:nvSpPr>
          <p:cNvPr id="45" name="ou_bg4"/>
          <p:cNvSpPr/>
          <p:nvPr/>
        </p:nvSpPr>
        <p:spPr>
          <a:xfrm>
            <a:off x="8032090" y="4389120"/>
            <a:ext cx="1737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46" name="ou_v4"/>
          <p:cNvSpPr txBox="1"/>
          <p:nvPr/>
        </p:nvSpPr>
        <p:spPr>
          <a:xfrm>
            <a:off x="8032090" y="4434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—</a:t>
            </a:r>
            <a:endParaRPr lang="en-US" sz="2600" dirty="0"/>
          </a:p>
        </p:txBody>
      </p:sp>
      <p:sp>
        <p:nvSpPr>
          <p:cNvPr id="47" name="ou_l4"/>
          <p:cNvSpPr txBox="1"/>
          <p:nvPr/>
        </p:nvSpPr>
        <p:spPr>
          <a:xfrm>
            <a:off x="8123530" y="4892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Base-case upside / downside</a:t>
            </a:r>
            <a:endParaRPr lang="en-US" sz="1050" dirty="0"/>
          </a:p>
        </p:txBody>
      </p:sp>
      <p:sp>
        <p:nvSpPr>
          <p:cNvPr id="48" name="ou_bg5"/>
          <p:cNvSpPr/>
          <p:nvPr/>
        </p:nvSpPr>
        <p:spPr>
          <a:xfrm>
            <a:off x="9902952" y="4389120"/>
            <a:ext cx="1737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49" name="ou_v5"/>
          <p:cNvSpPr txBox="1"/>
          <p:nvPr/>
        </p:nvSpPr>
        <p:spPr>
          <a:xfrm>
            <a:off x="9902952" y="4434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—</a:t>
            </a:r>
            <a:endParaRPr lang="en-US" sz="2600" dirty="0"/>
          </a:p>
        </p:txBody>
      </p:sp>
      <p:sp>
        <p:nvSpPr>
          <p:cNvPr id="50" name="ou_l5"/>
          <p:cNvSpPr txBox="1"/>
          <p:nvPr/>
        </p:nvSpPr>
        <p:spPr>
          <a:xfrm>
            <a:off x="9994392" y="4892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Bull / Base / Bear fair values</a:t>
            </a:r>
            <a:endParaRPr lang="en-US" sz="1050" dirty="0"/>
          </a:p>
        </p:txBody>
      </p:sp>
      <p:sp>
        <p:nvSpPr>
          <p:cNvPr id="51" name="hn_bg"/>
          <p:cNvSpPr/>
          <p:nvPr/>
        </p:nvSpPr>
        <p:spPr>
          <a:xfrm>
            <a:off x="548640" y="55321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2" name="hn_t"/>
          <p:cNvSpPr txBox="1"/>
          <p:nvPr/>
        </p:nvSpPr>
        <p:spPr>
          <a:xfrm>
            <a:off x="731520" y="55321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ITC Hotels is valued as a separate listed associate: 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verified shareholding × market capitalisation on the valuation date, with ownership and transaction adjustments — not accounting carrying value, and not its full hotel revenue or profit.</a:t>
            </a:r>
            <a:endParaRPr lang="en-US" sz="1150" dirty="0"/>
          </a:p>
        </p:txBody>
      </p:sp>
      <p:sp>
        <p:nvSpPr>
          <p:cNvPr id="53" name="foot"/>
          <p:cNvSpPr txBox="1"/>
          <p:nvPr/>
        </p:nvSpPr>
        <p:spPr>
          <a:xfrm>
            <a:off x="548640" y="614476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All financial assumptions, WACC inputs, terminal-value assumptions, multiples, ownership percentages and adjustments will be documented in the Excel model.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8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nodeType="withEffect">
                                  <p:stCondLst>
                                    <p:cond delay="318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53" presetClass="entr" presetSubtype="16" fill="hold" nodeType="withEffect">
                                  <p:stCondLst>
                                    <p:cond delay="333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nodeType="with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343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53" presetClass="entr" presetSubtype="16" fill="hold" nodeType="withEffect">
                                  <p:stCondLst>
                                    <p:cond delay="351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nodeType="withEffect">
                                  <p:stCondLst>
                                    <p:cond delay="354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361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53" presetClass="entr" presetSubtype="16" fill="hold" nodeType="withEffect">
                                  <p:stCondLst>
                                    <p:cond delay="369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nodeType="withEffect">
                                  <p:stCondLst>
                                    <p:cond delay="372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379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53" presetClass="entr" presetSubtype="16" fill="hold" nodeType="withEffect">
                                  <p:stCondLst>
                                    <p:cond delay="387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nodeType="withEffect">
                                  <p:stCondLst>
                                    <p:cond delay="397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53" presetClass="entr" presetSubtype="16" fill="hold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4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4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4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415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8" fill="hold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08  ·  RISK, SCENARIOS &amp; FINAL RECOMMENDATION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What could make our thesis right—or wrong?</a:t>
            </a:r>
            <a:endParaRPr lang="en-US" sz="2800" dirty="0"/>
          </a:p>
        </p:txBody>
      </p:sp>
      <p:sp>
        <p:nvSpPr>
          <p:cNvPr id="4" name="pend"/>
          <p:cNvSpPr txBox="1"/>
          <p:nvPr/>
        </p:nvSpPr>
        <p:spPr>
          <a:xfrm>
            <a:off x="9509760" y="256032"/>
            <a:ext cx="2130552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OUTPUTS PENDING MODEL</a:t>
            </a:r>
            <a:endParaRPr lang="en-US" sz="1000" dirty="0"/>
          </a:p>
        </p:txBody>
      </p:sp>
      <p:graphicFrame>
        <p:nvGraphicFramePr>
          <p:cNvPr id="10" name="scn_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35224"/>
                <a:gridCol w="2935224"/>
                <a:gridCol w="2935224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300" dirty="0"/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BULL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Stronger growth, margin improvement or favourable valuation assumptions</a:t>
                      </a:r>
                      <a:endParaRPr lang="en-US" sz="1200" dirty="0"/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BASE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Most defensible assumptions supported by history and evidence</a:t>
                      </a:r>
                      <a:endParaRPr lang="en-US" sz="1200" dirty="0"/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BEAR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</a:rPr>
                        <a:t>Lower growth, margin compression, adverse regulation, weak execution or multiple contraction</a:t>
                      </a:r>
                      <a:endParaRPr lang="en-US" sz="1200" dirty="0"/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0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94B"/>
                          </a:solidFill>
                        </a:rPr>
                        <a:t>Fair value per share</a:t>
                      </a:r>
                      <a:endParaRPr lang="en-US" sz="1300" dirty="0"/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B6577"/>
                          </a:solidFill>
                        </a:rPr>
                        <a:t>Model output</a:t>
                      </a:r>
                      <a:endParaRPr lang="en-US" sz="1250" dirty="0"/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B6577"/>
                          </a:solidFill>
                        </a:rPr>
                        <a:t>Model output</a:t>
                      </a:r>
                      <a:endParaRPr lang="en-US" sz="1250" dirty="0"/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B6577"/>
                          </a:solidFill>
                        </a:rPr>
                        <a:t>Model output</a:t>
                      </a:r>
                      <a:endParaRPr lang="en-US" sz="1250" dirty="0"/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94B"/>
                          </a:solidFill>
                        </a:rPr>
                        <a:t>Return from market price</a:t>
                      </a:r>
                      <a:endParaRPr lang="en-US" sz="1300" dirty="0"/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B6577"/>
                          </a:solidFill>
                        </a:rPr>
                        <a:t>Model output</a:t>
                      </a:r>
                      <a:endParaRPr lang="en-US" sz="1250" dirty="0"/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B6577"/>
                          </a:solidFill>
                        </a:rPr>
                        <a:t>Model output</a:t>
                      </a:r>
                      <a:endParaRPr lang="en-US" sz="1250" dirty="0"/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B6577"/>
                          </a:solidFill>
                        </a:rPr>
                        <a:t>Model output</a:t>
                      </a:r>
                      <a:endParaRPr lang="en-US" sz="1250" dirty="0"/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94B"/>
                          </a:solidFill>
                        </a:rPr>
                        <a:t>Key assumptions</a:t>
                      </a:r>
                      <a:endParaRPr lang="en-US" sz="1300" dirty="0"/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B6577"/>
                          </a:solidFill>
                        </a:rPr>
                        <a:t>To be stated explicitly</a:t>
                      </a:r>
                      <a:endParaRPr lang="en-US" sz="1250" dirty="0"/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B6577"/>
                          </a:solidFill>
                        </a:rPr>
                        <a:t>To be stated explicitly</a:t>
                      </a:r>
                      <a:endParaRPr lang="en-US" sz="1250" dirty="0"/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B6577"/>
                          </a:solidFill>
                        </a:rPr>
                        <a:t>To be stated explicitly</a:t>
                      </a:r>
                      <a:endParaRPr lang="en-US" sz="1250" dirty="0"/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94B"/>
                          </a:solidFill>
                        </a:rPr>
                        <a:t>Primary risks</a:t>
                      </a:r>
                      <a:endParaRPr lang="en-US" sz="1300" dirty="0"/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B6577"/>
                          </a:solidFill>
                        </a:rPr>
                        <a:t>To be stated explicitly</a:t>
                      </a:r>
                      <a:endParaRPr lang="en-US" sz="1250" dirty="0"/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B6577"/>
                          </a:solidFill>
                        </a:rPr>
                        <a:t>To be stated explicitly</a:t>
                      </a:r>
                      <a:endParaRPr lang="en-US" sz="1250" dirty="0"/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B6577"/>
                          </a:solidFill>
                        </a:rPr>
                        <a:t>To be stated explicitly</a:t>
                      </a:r>
                      <a:endParaRPr lang="en-US" sz="1250" dirty="0"/>
                    </a:p>
                  </a:txBody>
                  <a:tcPr marL="91440" marR="9144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6" name="con_lbl"/>
          <p:cNvSpPr txBox="1"/>
          <p:nvPr/>
        </p:nvSpPr>
        <p:spPr>
          <a:xfrm>
            <a:off x="54864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RECOMMENDATION — DERIVED FROM THE MODEL, NOT FITTED TO A STORY</a:t>
            </a:r>
            <a:endParaRPr lang="en-US" sz="1200" dirty="0"/>
          </a:p>
        </p:txBody>
      </p:sp>
      <p:sp>
        <p:nvSpPr>
          <p:cNvPr id="7" name="cn_bg0"/>
          <p:cNvSpPr/>
          <p:nvPr/>
        </p:nvSpPr>
        <p:spPr>
          <a:xfrm>
            <a:off x="548640" y="4754880"/>
            <a:ext cx="265176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8" name="cn_i0_c"/>
          <p:cNvSpPr/>
          <p:nvPr/>
        </p:nvSpPr>
        <p:spPr>
          <a:xfrm>
            <a:off x="713232" y="50109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cn_i0_i" descr="cn_i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" y="5125212"/>
            <a:ext cx="228600" cy="228600"/>
          </a:xfrm>
          <a:prstGeom prst="rect">
            <a:avLst/>
          </a:prstGeom>
        </p:spPr>
      </p:pic>
      <p:sp>
        <p:nvSpPr>
          <p:cNvPr id="10" name="cn_t0"/>
          <p:cNvSpPr txBox="1"/>
          <p:nvPr/>
        </p:nvSpPr>
        <p:spPr>
          <a:xfrm>
            <a:off x="1280160" y="4754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Recommendation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B8C0CC"/>
                </a:solidFill>
              </a:rPr>
              <a:t>Pending model</a:t>
            </a:r>
            <a:endParaRPr lang="en-US" sz="1300" dirty="0"/>
          </a:p>
        </p:txBody>
      </p:sp>
      <p:sp>
        <p:nvSpPr>
          <p:cNvPr id="11" name="cn_bg1"/>
          <p:cNvSpPr/>
          <p:nvPr/>
        </p:nvSpPr>
        <p:spPr>
          <a:xfrm>
            <a:off x="3362249" y="4754880"/>
            <a:ext cx="26517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2" name="cn_i1_c"/>
          <p:cNvSpPr/>
          <p:nvPr/>
        </p:nvSpPr>
        <p:spPr>
          <a:xfrm>
            <a:off x="3526841" y="5010912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cn_i1_i" descr="cn_i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141" y="5125212"/>
            <a:ext cx="228600" cy="228600"/>
          </a:xfrm>
          <a:prstGeom prst="rect">
            <a:avLst/>
          </a:prstGeom>
        </p:spPr>
      </p:pic>
      <p:sp>
        <p:nvSpPr>
          <p:cNvPr id="14" name="cn_t1"/>
          <p:cNvSpPr txBox="1"/>
          <p:nvPr/>
        </p:nvSpPr>
        <p:spPr>
          <a:xfrm>
            <a:off x="4093769" y="4754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Margin of safety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chemeClr val="accent3"/>
                </a:solidFill>
              </a:rPr>
              <a:t>Pending model</a:t>
            </a:r>
            <a:endParaRPr lang="en-US" sz="1300" dirty="0"/>
          </a:p>
        </p:txBody>
      </p:sp>
      <p:sp>
        <p:nvSpPr>
          <p:cNvPr id="15" name="cn_bg2"/>
          <p:cNvSpPr/>
          <p:nvPr/>
        </p:nvSpPr>
        <p:spPr>
          <a:xfrm>
            <a:off x="6175858" y="4754880"/>
            <a:ext cx="26517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6" name="cn_i2_c"/>
          <p:cNvSpPr/>
          <p:nvPr/>
        </p:nvSpPr>
        <p:spPr>
          <a:xfrm>
            <a:off x="6340450" y="5010912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cn_i2_i" descr="cn_i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750" y="5125212"/>
            <a:ext cx="228600" cy="228600"/>
          </a:xfrm>
          <a:prstGeom prst="rect">
            <a:avLst/>
          </a:prstGeom>
        </p:spPr>
      </p:pic>
      <p:sp>
        <p:nvSpPr>
          <p:cNvPr id="18" name="cn_t2"/>
          <p:cNvSpPr txBox="1"/>
          <p:nvPr/>
        </p:nvSpPr>
        <p:spPr>
          <a:xfrm>
            <a:off x="6907378" y="4754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Investment horizon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chemeClr val="accent3"/>
                </a:solidFill>
              </a:rPr>
              <a:t>Pending model</a:t>
            </a:r>
            <a:endParaRPr lang="en-US" sz="1300" dirty="0"/>
          </a:p>
        </p:txBody>
      </p:sp>
      <p:sp>
        <p:nvSpPr>
          <p:cNvPr id="19" name="cn_bg3"/>
          <p:cNvSpPr/>
          <p:nvPr/>
        </p:nvSpPr>
        <p:spPr>
          <a:xfrm>
            <a:off x="8989466" y="4754880"/>
            <a:ext cx="26517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0" name="cn_i3_c"/>
          <p:cNvSpPr/>
          <p:nvPr/>
        </p:nvSpPr>
        <p:spPr>
          <a:xfrm>
            <a:off x="9154058" y="5010912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1" name="cn_i3_i" descr="cn_i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8358" y="5125212"/>
            <a:ext cx="228600" cy="228600"/>
          </a:xfrm>
          <a:prstGeom prst="rect">
            <a:avLst/>
          </a:prstGeom>
        </p:spPr>
      </p:pic>
      <p:sp>
        <p:nvSpPr>
          <p:cNvPr id="22" name="cn_t3"/>
          <p:cNvSpPr txBox="1"/>
          <p:nvPr/>
        </p:nvSpPr>
        <p:spPr>
          <a:xfrm>
            <a:off x="9720986" y="4754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Thesis-invalidation trigger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chemeClr val="accent3"/>
                </a:solidFill>
              </a:rPr>
              <a:t>Pending model</a:t>
            </a:r>
            <a:endParaRPr lang="en-US" sz="1300" dirty="0"/>
          </a:p>
        </p:txBody>
      </p:sp>
      <p:sp>
        <p:nvSpPr>
          <p:cNvPr id="23" name="foot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Scenario probabilities and the final recommendation will be derived from our valuation, margin of safety, investment horizon and primary thesis-invalidation trigger — never manufactured to fit a predetermined story.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0"/>
          <p:cNvSpPr/>
          <p:nvPr/>
        </p:nvSpPr>
        <p:spPr>
          <a:xfrm>
            <a:off x="2898648" y="228600"/>
            <a:ext cx="6400800" cy="6400800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" name="ring1"/>
          <p:cNvSpPr/>
          <p:nvPr/>
        </p:nvSpPr>
        <p:spPr>
          <a:xfrm>
            <a:off x="3813048" y="1143000"/>
            <a:ext cx="4572000" cy="45720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" name="ty"/>
          <p:cNvSpPr txBox="1"/>
          <p:nvPr/>
        </p:nvSpPr>
        <p:spPr>
          <a:xfrm>
            <a:off x="1527048" y="233172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5" name="ty_itc"/>
          <p:cNvSpPr txBox="1"/>
          <p:nvPr/>
        </p:nvSpPr>
        <p:spPr>
          <a:xfrm>
            <a:off x="1527048" y="3657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ITC Limited  ·  Equity Research</a:t>
            </a:r>
            <a:endParaRPr lang="en-US" sz="2400" dirty="0"/>
          </a:p>
        </p:txBody>
      </p:sp>
      <p:sp>
        <p:nvSpPr>
          <p:cNvPr id="6" name="ty_team"/>
          <p:cNvSpPr txBox="1"/>
          <p:nvPr/>
        </p:nvSpPr>
        <p:spPr>
          <a:xfrm>
            <a:off x="3355848" y="4389120"/>
            <a:ext cx="548640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[Team name]  ·  Moolyankan 2026  ·  Round 2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olyankan ITC">
  <a:themeElements>
    <a:clrScheme name="Moolyankan ITC">
      <a:dk1>
        <a:srgbClr val="1B2433"/>
      </a:dk1>
      <a:lt1>
        <a:srgbClr val="FFFFFF"/>
      </a:lt1>
      <a:dk2>
        <a:srgbClr val="14294B"/>
      </a:dk2>
      <a:lt2>
        <a:srgbClr val="F1F4F8"/>
      </a:lt2>
      <a:accent1>
        <a:srgbClr val="B3202A"/>
      </a:accent1>
      <a:accent2>
        <a:srgbClr val="14294B"/>
      </a:accent2>
      <a:accent3>
        <a:srgbClr val="5B6577"/>
      </a:accent3>
      <a:accent4>
        <a:srgbClr val="B8C0CC"/>
      </a:accent4>
      <a:accent5>
        <a:srgbClr val="2F5D9B"/>
      </a:accent5>
      <a:accent6>
        <a:srgbClr val="E3E8F0"/>
      </a:accent6>
      <a:hlink>
        <a:srgbClr val="2F5D9B"/>
      </a:hlink>
      <a:folHlink>
        <a:srgbClr val="5B6577"/>
      </a:folHlink>
    </a:clrScheme>
    <a:fontScheme name="Moolyankan IT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Moolyankan 2026 — ITC Limited Equity Research</dc:title>
  <dc:subject>PptxGenJS Presentation</dc:subject>
  <dc:creator>Moolyankan 2026 Team</dc:creator>
  <cp:lastModifiedBy>Moolyankan 2026 Team</cp:lastModifiedBy>
  <cp:revision>1</cp:revision>
  <dcterms:created xsi:type="dcterms:W3CDTF">2026-10-25T14:51:14Z</dcterms:created>
  <dcterms:modified xsi:type="dcterms:W3CDTF">2026-10-25T14:51:14Z</dcterms:modified>
</cp:coreProperties>
</file>